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pod549zv4DSZPy4ObSBpxveDX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0C3C8D-A8BD-4F2D-B362-5CBD60864020}">
  <a:tblStyle styleId="{690C3C8D-A8BD-4F2D-B362-5CBD608640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1D8CC1A-3392-41BB-81EB-403ADDBC53D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f8f8222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g3bf8f82228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f8f822286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bf8f8222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8f8222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g3bf8f82228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fccb549fd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fccb549fd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fccb549fd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f8f822286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bf8f82228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f8f82228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7" name="Google Shape;137;g3bf8f822286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8f822286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bf8f82228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fb3e5cb38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bfb3e5cb3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bfbb842c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bfbb842c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bfbb842c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fbb842ce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bfbb842c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bbfbb842ce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fbb842c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bfbb842c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bbfbb842c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bfbb842ce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bfbb842ce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bfbb842ce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bfbb842ce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bfbb842ce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bbfbb842ce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bfbb842ce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bfbb842ce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bfbb842ce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5f8bd80e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5f8bd80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2860969"/>
            <a:ext cx="7302600" cy="17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61: HARD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/>
              <a:t>Bi-Weekly Update 1</a:t>
            </a:r>
            <a:br>
              <a:rPr lang="en-US"/>
            </a:br>
            <a:r>
              <a:rPr lang="en-US" sz="2455"/>
              <a:t>William Jachimiak, Jean Jacques Chirat,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Preston Bowyer, Aiden George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Sponsor: Professor Arya Menon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3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9"/>
            <a:ext cx="2335650" cy="39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1536956"/>
            <a:ext cx="45321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42240" lvl="0" marL="342900" rtl="0" algn="l">
              <a:spcBef>
                <a:spcPts val="640"/>
              </a:spcBef>
              <a:spcAft>
                <a:spcPts val="0"/>
              </a:spcAft>
              <a:buSzPct val="133333"/>
              <a:buChar char="•"/>
            </a:pPr>
            <a:r>
              <a:rPr lang="en-US"/>
              <a:t> </a:t>
            </a:r>
            <a:r>
              <a:rPr lang="en-US" sz="2400"/>
              <a:t>Our project seeks to solve the problem of monitoring fall injury prone individuals in assisted-care through the following implementation: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Collection of vertical position &amp; velocity data (minimally invasive) using mmWave radar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Stream the data to </a:t>
            </a:r>
            <a:r>
              <a:rPr lang="en-US" sz="2400"/>
              <a:t>Raspberry</a:t>
            </a:r>
            <a:r>
              <a:rPr lang="en-US" sz="2400"/>
              <a:t> Pi to be processed by ML detection algorithm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Pi communicates positive detection result over WiFi network to Firebase cloud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Firebase interfaces with Android app to notify assisted-care workers if fall event occurs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025" y="1536956"/>
            <a:ext cx="2451187" cy="24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pic>
        <p:nvPicPr>
          <p:cNvPr id="73" name="Google Shape;73;p3" title="Final System 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900" y="1562570"/>
            <a:ext cx="4893020" cy="3449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Major Project Changes for 404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1985825" y="1673949"/>
            <a:ext cx="4168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Change from ESP32 to a Raspberry Pi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Changes to</a:t>
            </a:r>
            <a:r>
              <a:rPr lang="en-US" sz="1800">
                <a:solidFill>
                  <a:schemeClr val="dk1"/>
                </a:solidFill>
              </a:rPr>
              <a:t> the power </a:t>
            </a:r>
            <a:r>
              <a:rPr lang="en-US" sz="1800">
                <a:solidFill>
                  <a:schemeClr val="dk1"/>
                </a:solidFill>
              </a:rPr>
              <a:t>subsystem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in the buck converter and battery charging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MCU/SBC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William Jachimiak</a:t>
            </a:r>
            <a:endParaRPr sz="2980"/>
          </a:p>
        </p:txBody>
      </p:sp>
      <p:graphicFrame>
        <p:nvGraphicFramePr>
          <p:cNvPr id="85" name="Google Shape;85;p6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{690C3C8D-A8BD-4F2D-B362-5CBD60864020}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403</a:t>
                      </a:r>
                      <a:r>
                        <a:rPr lang="en-US" sz="1350"/>
                        <a:t>: </a:t>
                      </a: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lang="en-US" sz="135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Moved over ESP32 work to the raspberry pi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Made a </a:t>
                      </a:r>
                      <a:r>
                        <a:rPr lang="en-US" sz="1350"/>
                        <a:t>sliding</a:t>
                      </a:r>
                      <a:r>
                        <a:rPr lang="en-US" sz="1350"/>
                        <a:t> queue system that takes in frames to be read by machine learning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Integrate with machine learning subsystem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Integrate with App through the cloud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080" y="1686850"/>
            <a:ext cx="7019833" cy="314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 txBox="1"/>
          <p:nvPr/>
        </p:nvSpPr>
        <p:spPr>
          <a:xfrm>
            <a:off x="3465762" y="1244425"/>
            <a:ext cx="22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Parsed Frame from the Radar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8f822286_0_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Jean Jacques Chirat</a:t>
            </a:r>
            <a:endParaRPr sz="2980"/>
          </a:p>
        </p:txBody>
      </p:sp>
      <p:graphicFrame>
        <p:nvGraphicFramePr>
          <p:cNvPr id="97" name="Google Shape;97;g3bf8f822286_0_1"/>
          <p:cNvGraphicFramePr/>
          <p:nvPr/>
        </p:nvGraphicFramePr>
        <p:xfrm>
          <a:off x="644700" y="1530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{690C3C8D-A8BD-4F2D-B362-5CBD60864020}</a:tableStyleId>
              </a:tblPr>
              <a:tblGrid>
                <a:gridCol w="3886200"/>
                <a:gridCol w="3886200"/>
              </a:tblGrid>
              <a:tr h="7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403                          </a:t>
                      </a: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12 </a:t>
                      </a:r>
                      <a:r>
                        <a:rPr lang="en-US" sz="1350" u="none" cap="none" strike="noStrike">
                          <a:solidFill>
                            <a:srgbClr val="FF0000"/>
                          </a:solidFill>
                        </a:rPr>
                        <a:t>hrs of effort</a:t>
                      </a:r>
                      <a:endParaRPr sz="13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529475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Achieved high rate of detection accuracy (&gt;90% in most test sets)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Added more edge case data (running, jumping, sitting, etc. at least 10 datasets each)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Conversion into ONNX framework (better for limited computational resources) 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Optimized some methods used in the training process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Integrate data processing with the MCU code to run on the Pi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Verify that the model works correctly using a dummy input 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Work on how to synchronize real-time data with signal processing to ensure detection is done in a timely manner, and without losing information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f8f822286_0_7"/>
          <p:cNvSpPr txBox="1"/>
          <p:nvPr>
            <p:ph idx="1" type="body"/>
          </p:nvPr>
        </p:nvSpPr>
        <p:spPr>
          <a:xfrm>
            <a:off x="5936125" y="1600969"/>
            <a:ext cx="2903100" cy="3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/>
              <a:t>Current performance:</a:t>
            </a:r>
            <a:endParaRPr sz="1400"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Training accuracy: 99.96%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Validation accuracy: 96.15% +/- 5.16%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Test accuracy: 92.73%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False positive rate: 6.9%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False negative rate: 1.8%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3" name="Google Shape;103;g3bf8f822286_0_7"/>
          <p:cNvSpPr txBox="1"/>
          <p:nvPr>
            <p:ph type="title"/>
          </p:nvPr>
        </p:nvSpPr>
        <p:spPr>
          <a:xfrm>
            <a:off x="609600" y="728964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Jean Jacques Chirat</a:t>
            </a:r>
            <a:endParaRPr sz="2980"/>
          </a:p>
        </p:txBody>
      </p:sp>
      <p:pic>
        <p:nvPicPr>
          <p:cNvPr id="104" name="Google Shape;104;g3bf8f822286_0_7" title="cnn_fall_detection.onnx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275" y="1452956"/>
            <a:ext cx="711957" cy="3149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bf8f822286_0_7"/>
          <p:cNvSpPr txBox="1"/>
          <p:nvPr/>
        </p:nvSpPr>
        <p:spPr>
          <a:xfrm>
            <a:off x="442225" y="4605169"/>
            <a:ext cx="12843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Visualization of model structure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6" name="Google Shape;106;g3bf8f822286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067" y="1452947"/>
            <a:ext cx="2588077" cy="155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bf8f822286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3938" y="3375544"/>
            <a:ext cx="2325770" cy="139547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bf8f822286_0_7"/>
          <p:cNvSpPr txBox="1"/>
          <p:nvPr/>
        </p:nvSpPr>
        <p:spPr>
          <a:xfrm>
            <a:off x="2389750" y="4841175"/>
            <a:ext cx="31296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Training &amp; validation accuracy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9" name="Google Shape;109;g3bf8f822286_0_7"/>
          <p:cNvSpPr txBox="1"/>
          <p:nvPr/>
        </p:nvSpPr>
        <p:spPr>
          <a:xfrm>
            <a:off x="2383900" y="3126994"/>
            <a:ext cx="310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10-fold iteration accuracy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f8f822286_0_1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Aiden George</a:t>
            </a:r>
            <a:endParaRPr sz="2980"/>
          </a:p>
        </p:txBody>
      </p:sp>
      <p:graphicFrame>
        <p:nvGraphicFramePr>
          <p:cNvPr id="115" name="Google Shape;115;g3bf8f822286_0_13"/>
          <p:cNvGraphicFramePr/>
          <p:nvPr/>
        </p:nvGraphicFramePr>
        <p:xfrm>
          <a:off x="490550" y="16028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{690C3C8D-A8BD-4F2D-B362-5CBD60864020}</a:tableStyleId>
              </a:tblPr>
              <a:tblGrid>
                <a:gridCol w="3886200"/>
                <a:gridCol w="3886200"/>
              </a:tblGrid>
              <a:tr h="7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403                          </a:t>
                      </a: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 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25 </a:t>
                      </a:r>
                      <a:r>
                        <a:rPr lang="en-US" sz="1350" u="none" cap="none" strike="noStrike">
                          <a:solidFill>
                            <a:srgbClr val="FF0000"/>
                          </a:solidFill>
                        </a:rPr>
                        <a:t>h</a:t>
                      </a:r>
                      <a:r>
                        <a:rPr lang="en-US" sz="1350" u="none" cap="none" strike="noStrike">
                          <a:solidFill>
                            <a:srgbClr val="FF0000"/>
                          </a:solidFill>
                        </a:rPr>
                        <a:t>rs of effort</a:t>
                      </a:r>
                      <a:endParaRPr sz="13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529475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New power supply design has been designed to </a:t>
                      </a:r>
                      <a:r>
                        <a:rPr lang="en-US" sz="1350"/>
                        <a:t>accommodate</a:t>
                      </a:r>
                      <a:r>
                        <a:rPr lang="en-US" sz="1350"/>
                        <a:t> higher voltage and current requirements from new MCU  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Battery and charging circuit modified to a higher voltage from 7.2V to 14.4V to allow charging under max load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Previous voltage regulators replaced with a single 5V 10A regulator 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Simulate new voltage </a:t>
                      </a:r>
                      <a:r>
                        <a:rPr lang="en-US" sz="1350"/>
                        <a:t>regulator</a:t>
                      </a:r>
                      <a:r>
                        <a:rPr lang="en-US" sz="1350"/>
                        <a:t> using PSPICE to validate design under load 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Finalize updated PCB design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Order parts and PCB  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ccb549fd_1_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</a:t>
            </a:r>
            <a:endParaRPr/>
          </a:p>
        </p:txBody>
      </p:sp>
      <p:pic>
        <p:nvPicPr>
          <p:cNvPr id="122" name="Google Shape;122;g3bfccb549fd_1_12" title="Screenshot 2026-01-28 100120.png"/>
          <p:cNvPicPr preferRelativeResize="0"/>
          <p:nvPr/>
        </p:nvPicPr>
        <p:blipFill rotWithShape="1">
          <a:blip r:embed="rId3">
            <a:alphaModFix/>
          </a:blip>
          <a:srcRect b="1342" l="0" r="9519" t="0"/>
          <a:stretch/>
        </p:blipFill>
        <p:spPr>
          <a:xfrm>
            <a:off x="5132275" y="2142175"/>
            <a:ext cx="3012524" cy="26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bfccb549fd_1_12" title="Power Schemati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125" y="2142175"/>
            <a:ext cx="3531409" cy="26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fccb549fd_1_12"/>
          <p:cNvSpPr txBox="1"/>
          <p:nvPr/>
        </p:nvSpPr>
        <p:spPr>
          <a:xfrm>
            <a:off x="1263286" y="1772873"/>
            <a:ext cx="275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Previous</a:t>
            </a:r>
            <a:r>
              <a:rPr lang="en-US" sz="1800">
                <a:solidFill>
                  <a:schemeClr val="dk1"/>
                </a:solidFill>
              </a:rPr>
              <a:t> Power Supply 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5" name="Google Shape;125;g3bfccb549fd_1_12"/>
          <p:cNvSpPr txBox="1"/>
          <p:nvPr/>
        </p:nvSpPr>
        <p:spPr>
          <a:xfrm>
            <a:off x="5261998" y="1772873"/>
            <a:ext cx="275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Previous PCB</a:t>
            </a:r>
            <a:r>
              <a:rPr lang="en-US" sz="1800">
                <a:solidFill>
                  <a:schemeClr val="dk1"/>
                </a:solidFill>
              </a:rPr>
              <a:t> 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f8f822286_0_19"/>
          <p:cNvSpPr txBox="1"/>
          <p:nvPr>
            <p:ph type="title"/>
          </p:nvPr>
        </p:nvSpPr>
        <p:spPr>
          <a:xfrm>
            <a:off x="619875" y="89090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Aiden George</a:t>
            </a:r>
            <a:endParaRPr sz="2980"/>
          </a:p>
        </p:txBody>
      </p:sp>
      <p:sp>
        <p:nvSpPr>
          <p:cNvPr id="131" name="Google Shape;131;g3bf8f822286_0_19"/>
          <p:cNvSpPr txBox="1"/>
          <p:nvPr/>
        </p:nvSpPr>
        <p:spPr>
          <a:xfrm>
            <a:off x="5801448" y="1873873"/>
            <a:ext cx="275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New Voltage Regulator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32" name="Google Shape;132;g3bf8f822286_0_19" title="Screenshot 2026-01-28 0915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075" y="2243175"/>
            <a:ext cx="3609277" cy="26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f8f822286_0_19"/>
          <p:cNvSpPr txBox="1"/>
          <p:nvPr/>
        </p:nvSpPr>
        <p:spPr>
          <a:xfrm>
            <a:off x="1257398" y="1795048"/>
            <a:ext cx="275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Updated Power Supply 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34" name="Google Shape;134;g3bf8f822286_0_19" title="Screenshot 2026-01-28 1111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43173"/>
            <a:ext cx="4787015" cy="2674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8f822286_0_2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Preston</a:t>
            </a:r>
            <a:r>
              <a:rPr lang="en-US" sz="1720"/>
              <a:t> Bowyer</a:t>
            </a:r>
            <a:endParaRPr sz="2980"/>
          </a:p>
        </p:txBody>
      </p:sp>
      <p:graphicFrame>
        <p:nvGraphicFramePr>
          <p:cNvPr id="140" name="Google Shape;140;g3bf8f822286_0_25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{690C3C8D-A8BD-4F2D-B362-5CBD60864020}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403                          </a:t>
                      </a: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lang="en-US" sz="135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Deployed Firestore-triggered Cloud Function to send push alerts via FCM.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Integrated topic-based notifications for all authenticated app users.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Implemented idempotent alert notification handling in Firestore.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Standardized alert schema for acknowledgment and timing analytics.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Assist with Raspberry Pi to Firebase communication for publishing alert documents.</a:t>
                      </a:r>
                      <a:endParaRPr sz="1350"/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Verify end-to-end alert flow using Raspberry Pi–generated Firestore events.</a:t>
                      </a:r>
                      <a:endParaRPr sz="1350"/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Measure alert acknowledgment latency from creation to user response.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f8f822286_0_31"/>
          <p:cNvSpPr txBox="1"/>
          <p:nvPr>
            <p:ph type="title"/>
          </p:nvPr>
        </p:nvSpPr>
        <p:spPr>
          <a:xfrm>
            <a:off x="609600" y="9011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Preston Bowyer</a:t>
            </a:r>
            <a:endParaRPr sz="2980"/>
          </a:p>
        </p:txBody>
      </p:sp>
      <p:pic>
        <p:nvPicPr>
          <p:cNvPr id="146" name="Google Shape;146;g3bf8f822286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5056"/>
            <a:ext cx="8839200" cy="53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bf8f822286_0_31"/>
          <p:cNvPicPr preferRelativeResize="0"/>
          <p:nvPr/>
        </p:nvPicPr>
        <p:blipFill rotWithShape="1">
          <a:blip r:embed="rId4">
            <a:alphaModFix/>
          </a:blip>
          <a:srcRect b="0" l="0" r="27850" t="0"/>
          <a:stretch/>
        </p:blipFill>
        <p:spPr>
          <a:xfrm>
            <a:off x="1217400" y="2294906"/>
            <a:ext cx="6597600" cy="1882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bf8f822286_0_31"/>
          <p:cNvSpPr txBox="1"/>
          <p:nvPr>
            <p:ph type="title"/>
          </p:nvPr>
        </p:nvSpPr>
        <p:spPr>
          <a:xfrm>
            <a:off x="3064050" y="4177594"/>
            <a:ext cx="25800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lang="en-US" sz="1500"/>
              <a:t>Cloud function execution log</a:t>
            </a:r>
            <a:endParaRPr b="0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fb3e5cb38_1_10"/>
          <p:cNvSpPr txBox="1"/>
          <p:nvPr>
            <p:ph type="title"/>
          </p:nvPr>
        </p:nvSpPr>
        <p:spPr>
          <a:xfrm>
            <a:off x="609600" y="9011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Preston Bowyer</a:t>
            </a:r>
            <a:endParaRPr sz="2980"/>
          </a:p>
        </p:txBody>
      </p:sp>
      <p:pic>
        <p:nvPicPr>
          <p:cNvPr id="154" name="Google Shape;154;g3bfb3e5cb38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48313"/>
            <a:ext cx="4392771" cy="2146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bfb3e5cb38_1_10" title="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433" y="1503958"/>
            <a:ext cx="1714984" cy="3525245"/>
          </a:xfrm>
          <a:prstGeom prst="rect">
            <a:avLst/>
          </a:prstGeom>
          <a:noFill/>
          <a:ln cap="flat" cmpd="sng" w="1905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g3bfb3e5cb38_1_10"/>
          <p:cNvSpPr txBox="1"/>
          <p:nvPr/>
        </p:nvSpPr>
        <p:spPr>
          <a:xfrm>
            <a:off x="899463" y="4197469"/>
            <a:ext cx="40581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Firestore alert document and Unacknowledged page of app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457200" y="6725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2239741" y="1517543"/>
            <a:ext cx="4454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the PCB and parts and connectors need to be ordered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parts should be ordered by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February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14 and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2 weeks of this date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457200" y="6725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168" name="Google Shape;168;p9" title="Screenshot 2026-01-28 0954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300" y="1391708"/>
            <a:ext cx="6768473" cy="356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fbb842ce_0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75" name="Google Shape;175;g3bbfbb842ce_0_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{21D8CC1A-3392-41BB-81EB-403ADDBC53D2}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MCU Subsystem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Validation Criteria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Definition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T1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Radar Configuration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Radar will be succesfully configured 100% of the time.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Pass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T2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Zero Read Dropped Frames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Be able to read in data from the radar with 0% frame drop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Pass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T3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Frame Selection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Drop any bad or incomplete frames from read with an accuracy of 100%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Pass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T4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App Connection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Be able to send out a JSON type alert to firebase 100% of the time.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In 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T5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Sliding Queue Dropped Frames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The sliding queue will be able to continually take in new frames and drop old frames without missing frames between and not failing to pass frames to the ML subsystem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In 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fbb842ce_0_17"/>
          <p:cNvSpPr txBox="1"/>
          <p:nvPr>
            <p:ph type="title"/>
          </p:nvPr>
        </p:nvSpPr>
        <p:spPr>
          <a:xfrm>
            <a:off x="457200" y="786877"/>
            <a:ext cx="8229600" cy="41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Validation 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2" name="Google Shape;182;g3bbfbb842ce_0_17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{21D8CC1A-3392-41BB-81EB-403ADDBC53D2}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Machine Learning Subsystem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Validation Criteria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Definition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False Positive Rate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 non-fall event which is classified as a fall event as a ratio of all non-fall cases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2.99%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False Negative Rate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 fall event which is classified as a non-fall event as a ratio of all fall cases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2.56%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T3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Train &amp; Test Dataset Size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The combined number of datasets used for model training and datasets for model simulation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164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Fall Positive Dataset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Number of datasets which serve as ground truth for falling scenario or '1'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60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T5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Fall Negative Dataset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Number of datasets which serve as ground truth for non-falling scenario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104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Edge case handling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Model must account for motion patterns that do not conform to majority of fall or non-fall patterns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20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bfbb842ce_0_39"/>
          <p:cNvSpPr txBox="1"/>
          <p:nvPr>
            <p:ph type="title"/>
          </p:nvPr>
        </p:nvSpPr>
        <p:spPr>
          <a:xfrm>
            <a:off x="457200" y="786877"/>
            <a:ext cx="8229600" cy="41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9" name="Google Shape;189;g3bbfbb842ce_0_39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{21D8CC1A-3392-41BB-81EB-403ADDBC53D2}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Machine Learning Subsystem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Validation Criteria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Definition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Confuser Rejection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Combined total of false positive and false negative classifications as a ratio of total test cases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2.83%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Noise handling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Model must account for noise that may be present in real-life residences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Added Gaussian noise of magnitude 0.1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T9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Detection delay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Model must be able to completely process any falling motion data within a reliable timeframe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TBD in integration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T10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Computation Speed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Real-time data must be converted to .json, preprocessed, and classified before the processing of the following data batch. A standard data batch will be 160 frames, so a dataset of this length will be used to set the benchmark.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0.313 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bfbb842ce_0_27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Validation 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6" name="Google Shape;196;g3bbfbb842ce_0_27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{21D8CC1A-3392-41BB-81EB-403ADDBC53D2}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Power Supply Subsystem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Validation Criteria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Definition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Output Voltage within range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Output voltage should be within +- 0.1V of the expected output with both power supplied from the batteries and the AC/DC converter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Max current load achieved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Output current when connected to a load resistor is able to achive 5A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T3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Minimum Runntime Achived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 minimum runntime of 4 hours when not charging achived when integrated with the main system achived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Battery charging voltage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Battery Charger voltage should be within +- 0.1V of the expected output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T5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Max battery charging current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 battery charging current of 2A achived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Stable charger disconent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When the device is unplugged a spike in DC voltage of no more than +- 0.5V is seen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bfbb842ce_0_54"/>
          <p:cNvSpPr txBox="1"/>
          <p:nvPr>
            <p:ph type="title"/>
          </p:nvPr>
        </p:nvSpPr>
        <p:spPr>
          <a:xfrm>
            <a:off x="457200" y="786877"/>
            <a:ext cx="8229600" cy="41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3" name="Google Shape;203;g3bbfbb842ce_0_54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{21D8CC1A-3392-41BB-81EB-403ADDBC53D2}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Mobile App Subsystem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Validation Criteria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Definition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Firebase Auth login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Valid users authenticate successfully; unauthenticated users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are blocked from app content.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Firestore alert publish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Raspberry Pi writes alert document to production alerts collection using defined schema.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T3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Firestore trigger execution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Cloud Function executes on alert creation and logs successful invocation.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FCM push delivery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Push notification delivered to device for each new alert document.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T5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Active app alert update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New alerts appear in Unacknowledged list in real time without manual refresh.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Background / killed app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Notification delivered; tapping notification opens correct alert detail screen.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bfbb842ce_0_61"/>
          <p:cNvSpPr txBox="1"/>
          <p:nvPr>
            <p:ph type="title"/>
          </p:nvPr>
        </p:nvSpPr>
        <p:spPr>
          <a:xfrm>
            <a:off x="457200" y="786877"/>
            <a:ext cx="8229600" cy="41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0" name="Google Shape;210;g3bbfbb842ce_0_61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{21D8CC1A-3392-41BB-81EB-403ADDBC53D2}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Mobile App Subsystem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Validation Criteria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Definition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Progress</a:t>
                      </a:r>
                      <a:endParaRPr sz="9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Duplicate prevention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Each alert document generates exactly one notification (no duplicates).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User acknowledgment flow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App updates acknowledged, acknowledgedBy, and acknowledgedAt fields correctly in Firestore.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T9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End-to-end timing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Alert reaches app within ≤ 2 seconds typical, ≤ 5 seconds worst-case.</a:t>
                      </a:r>
                      <a:endParaRPr sz="9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T10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Burst alert handling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System handles ≥50 alerts without missed notifications or crashes.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idx="4294967295" type="title"/>
          </p:nvPr>
        </p:nvSpPr>
        <p:spPr>
          <a:xfrm>
            <a:off x="457200" y="1206104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 for listening!</a:t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Q &amp; A</a:t>
            </a:r>
            <a:endParaRPr b="1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5f8bd80e4_0_0"/>
          <p:cNvSpPr txBox="1"/>
          <p:nvPr>
            <p:ph idx="4294967295" type="title"/>
          </p:nvPr>
        </p:nvSpPr>
        <p:spPr>
          <a:xfrm>
            <a:off x="457200" y="1206104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 for listening!</a:t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Q &amp; A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