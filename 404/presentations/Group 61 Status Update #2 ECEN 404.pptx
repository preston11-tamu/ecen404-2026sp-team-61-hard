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Helvetica Neue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htvYz++GjZ8bMEMSPzuOG7FhV1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B99CF2-1A7B-4EB3-ADCD-E784B658339B}">
  <a:tblStyle styleId="{E0B99CF2-1A7B-4EB3-ADCD-E784B658339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HelveticaNeue-bold.fntdata"/><Relationship Id="rId23" Type="http://schemas.openxmlformats.org/officeDocument/2006/relationships/font" Target="fonts/HelveticaNeue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HelveticaNeue-boldItalic.fntdata"/><Relationship Id="rId25" Type="http://schemas.openxmlformats.org/officeDocument/2006/relationships/font" Target="fonts/HelveticaNeue-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704aaf8f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108" name="Google Shape;108;g3c704aaf8fb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daec121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9" name="Google Shape;139;g3bdaec1217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daec1217f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bdaec1217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daec1217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4" name="Google Shape;154;g3bdaec1217f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daec1217f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bdaec1217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daec1217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7" name="Google Shape;167;g3bdaec1217f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daec1217f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bdaec1217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71efe14c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c71efe14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3969582" y="1597819"/>
            <a:ext cx="448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3124200" y="2914650"/>
            <a:ext cx="53340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175610"/>
            <a:ext cx="1832900" cy="30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457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2"/>
          <p:cNvSpPr txBox="1"/>
          <p:nvPr>
            <p:ph idx="2" type="body"/>
          </p:nvPr>
        </p:nvSpPr>
        <p:spPr>
          <a:xfrm>
            <a:off x="4648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/>
          <p:nvPr>
            <p:ph type="title"/>
          </p:nvPr>
        </p:nvSpPr>
        <p:spPr>
          <a:xfrm>
            <a:off x="457200" y="217548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800226"/>
            <a:ext cx="3008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3575050" y="805290"/>
            <a:ext cx="51117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1352888"/>
            <a:ext cx="3008400" cy="3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457200" y="897323"/>
            <a:ext cx="2573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/>
          <p:nvPr>
            <p:ph idx="2" type="pic"/>
          </p:nvPr>
        </p:nvSpPr>
        <p:spPr>
          <a:xfrm>
            <a:off x="3200400" y="897322"/>
            <a:ext cx="5486400" cy="3637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457200" y="1326032"/>
            <a:ext cx="2573700" cy="3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704aaf8fb_0_65"/>
          <p:cNvSpPr txBox="1"/>
          <p:nvPr>
            <p:ph type="ctrTitle"/>
          </p:nvPr>
        </p:nvSpPr>
        <p:spPr>
          <a:xfrm>
            <a:off x="3969582" y="1597819"/>
            <a:ext cx="448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c704aaf8fb_0_65"/>
          <p:cNvSpPr txBox="1"/>
          <p:nvPr>
            <p:ph idx="1" type="subTitle"/>
          </p:nvPr>
        </p:nvSpPr>
        <p:spPr>
          <a:xfrm>
            <a:off x="3124200" y="2914650"/>
            <a:ext cx="53340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g3c704aaf8fb_0_6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c704aaf8fb_0_6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c704aaf8fb_0_6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704aaf8fb_0_71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c704aaf8fb_0_71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g3c704aaf8fb_0_7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c704aaf8fb_0_7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c704aaf8fb_0_7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g3c704aaf8fb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175610"/>
            <a:ext cx="1374674" cy="232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704aaf8fb_0_78"/>
          <p:cNvSpPr txBox="1"/>
          <p:nvPr>
            <p:ph idx="1" type="body"/>
          </p:nvPr>
        </p:nvSpPr>
        <p:spPr>
          <a:xfrm>
            <a:off x="457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g3c704aaf8fb_0_78"/>
          <p:cNvSpPr txBox="1"/>
          <p:nvPr>
            <p:ph idx="2" type="body"/>
          </p:nvPr>
        </p:nvSpPr>
        <p:spPr>
          <a:xfrm>
            <a:off x="4648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6" name="Google Shape;76;g3c704aaf8fb_0_7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c704aaf8fb_0_7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c704aaf8fb_0_7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g3c704aaf8fb_0_78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704aaf8fb_0_85"/>
          <p:cNvSpPr txBox="1"/>
          <p:nvPr>
            <p:ph type="title"/>
          </p:nvPr>
        </p:nvSpPr>
        <p:spPr>
          <a:xfrm>
            <a:off x="457200" y="217548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c704aaf8fb_0_8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3c704aaf8fb_0_8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c704aaf8fb_0_8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704aaf8fb_0_90"/>
          <p:cNvSpPr txBox="1"/>
          <p:nvPr>
            <p:ph type="title"/>
          </p:nvPr>
        </p:nvSpPr>
        <p:spPr>
          <a:xfrm>
            <a:off x="457200" y="800226"/>
            <a:ext cx="3008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c704aaf8fb_0_90"/>
          <p:cNvSpPr txBox="1"/>
          <p:nvPr>
            <p:ph idx="1" type="body"/>
          </p:nvPr>
        </p:nvSpPr>
        <p:spPr>
          <a:xfrm>
            <a:off x="3575050" y="805290"/>
            <a:ext cx="51117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8" name="Google Shape;88;g3c704aaf8fb_0_90"/>
          <p:cNvSpPr txBox="1"/>
          <p:nvPr>
            <p:ph idx="2" type="body"/>
          </p:nvPr>
        </p:nvSpPr>
        <p:spPr>
          <a:xfrm>
            <a:off x="457200" y="1352888"/>
            <a:ext cx="3008400" cy="3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9" name="Google Shape;89;g3c704aaf8fb_0_9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c704aaf8fb_0_9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c704aaf8fb_0_9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704aaf8fb_0_97"/>
          <p:cNvSpPr txBox="1"/>
          <p:nvPr>
            <p:ph type="title"/>
          </p:nvPr>
        </p:nvSpPr>
        <p:spPr>
          <a:xfrm>
            <a:off x="457200" y="897323"/>
            <a:ext cx="2573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c704aaf8fb_0_97"/>
          <p:cNvSpPr/>
          <p:nvPr>
            <p:ph idx="2" type="pic"/>
          </p:nvPr>
        </p:nvSpPr>
        <p:spPr>
          <a:xfrm>
            <a:off x="3200400" y="897322"/>
            <a:ext cx="5486400" cy="3637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g3c704aaf8fb_0_97"/>
          <p:cNvSpPr txBox="1"/>
          <p:nvPr>
            <p:ph idx="1" type="body"/>
          </p:nvPr>
        </p:nvSpPr>
        <p:spPr>
          <a:xfrm>
            <a:off x="457200" y="1326032"/>
            <a:ext cx="2573700" cy="3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6" name="Google Shape;96;g3c704aaf8fb_0_9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c704aaf8fb_0_9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c704aaf8fb_0_9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704aaf8fb_0_5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g3c704aaf8fb_0_5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3c704aaf8fb_0_5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c704aaf8fb_0_5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g3c704aaf8fb_0_5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619250" y="2860969"/>
            <a:ext cx="7302600" cy="17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61: Project Name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/>
              <a:t>Bi-Weekly Update 2</a:t>
            </a:r>
            <a:br>
              <a:rPr lang="en-US"/>
            </a:br>
            <a:r>
              <a:rPr lang="en-US" sz="2455"/>
              <a:t>William Jachimiak, Jean Jacques Chirat, </a:t>
            </a:r>
            <a:endParaRPr sz="2455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Preston Bowyer, Aiden George 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Sponsor: Professor Arya Menon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TA: Manoj Kumar Balamurugan</a:t>
            </a:r>
            <a:br>
              <a:rPr lang="en-US" sz="2455"/>
            </a:br>
            <a:endParaRPr sz="2455"/>
          </a:p>
        </p:txBody>
      </p:sp>
      <p:sp>
        <p:nvSpPr>
          <p:cNvPr id="104" name="Google Shape;104;p1"/>
          <p:cNvSpPr/>
          <p:nvPr/>
        </p:nvSpPr>
        <p:spPr>
          <a:xfrm>
            <a:off x="0" y="0"/>
            <a:ext cx="6111300" cy="45837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828989"/>
            <a:ext cx="2335650" cy="394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704aaf8fb_0_53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111" name="Google Shape;111;g3c704aaf8fb_0_53"/>
          <p:cNvSpPr txBox="1"/>
          <p:nvPr>
            <p:ph idx="1" type="body"/>
          </p:nvPr>
        </p:nvSpPr>
        <p:spPr>
          <a:xfrm>
            <a:off x="457200" y="1536956"/>
            <a:ext cx="45321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42240" lvl="0" marL="342900" rtl="0" algn="l">
              <a:spcBef>
                <a:spcPts val="640"/>
              </a:spcBef>
              <a:spcAft>
                <a:spcPts val="0"/>
              </a:spcAft>
              <a:buSzPct val="133333"/>
              <a:buChar char="•"/>
            </a:pPr>
            <a:r>
              <a:rPr lang="en-US"/>
              <a:t> </a:t>
            </a:r>
            <a:r>
              <a:rPr lang="en-US" sz="2400"/>
              <a:t>Our project seeks to solve the problem of monitoring fall injury prone individuals in assisted-care through the following implementation:</a:t>
            </a:r>
            <a:endParaRPr sz="2400"/>
          </a:p>
          <a:p>
            <a:pPr indent="-33528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400"/>
              <a:t>Collection of vertical position &amp; velocity data (minimally invasive) using mmWave radar</a:t>
            </a:r>
            <a:endParaRPr sz="2400"/>
          </a:p>
          <a:p>
            <a:pPr indent="-33528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400"/>
              <a:t>Stream the data to Raspberry Pi to be processed by ML detection algorithm</a:t>
            </a:r>
            <a:endParaRPr sz="2400"/>
          </a:p>
          <a:p>
            <a:pPr indent="-33528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400"/>
              <a:t>Pi communicates positive detection result over WiFi network to Firebase cloud</a:t>
            </a:r>
            <a:endParaRPr sz="2400"/>
          </a:p>
          <a:p>
            <a:pPr indent="-33528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400"/>
              <a:t>Firebase interfaces with Android app to notify assisted-care workers if fall event occurs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2" name="Google Shape;112;g3c704aaf8fb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6025" y="1536956"/>
            <a:ext cx="1838390" cy="1838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Project/Subsystem Overview</a:t>
            </a:r>
            <a:endParaRPr/>
          </a:p>
        </p:txBody>
      </p:sp>
      <p:pic>
        <p:nvPicPr>
          <p:cNvPr id="118" name="Google Shape;118;p3" title="Final System Diagr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4513" y="1389694"/>
            <a:ext cx="4841232" cy="3412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</a:t>
            </a:r>
            <a:endParaRPr/>
          </a:p>
        </p:txBody>
      </p:sp>
      <p:graphicFrame>
        <p:nvGraphicFramePr>
          <p:cNvPr id="124" name="Google Shape;124;p4"/>
          <p:cNvGraphicFramePr/>
          <p:nvPr/>
        </p:nvGraphicFramePr>
        <p:xfrm>
          <a:off x="230909" y="20901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{E0B99CF2-1A7B-4EB3-ADCD-E784B658339B}</a:tableStyleId>
              </a:tblPr>
              <a:tblGrid>
                <a:gridCol w="1245350"/>
                <a:gridCol w="1240575"/>
                <a:gridCol w="1242975"/>
                <a:gridCol w="1252525"/>
                <a:gridCol w="1308550"/>
                <a:gridCol w="1182175"/>
                <a:gridCol w="1099200"/>
              </a:tblGrid>
              <a:tr h="1040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Subsystem Designs and Testing</a:t>
                      </a:r>
                      <a:endParaRPr sz="105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(completed </a:t>
                      </a:r>
                      <a:r>
                        <a:rPr lang="en-US" sz="975"/>
                        <a:t>02</a:t>
                      </a:r>
                      <a:r>
                        <a:rPr lang="en-US" sz="975" u="none" cap="none" strike="noStrike"/>
                        <a:t>/</a:t>
                      </a:r>
                      <a:r>
                        <a:rPr lang="en-US" sz="975"/>
                        <a:t>05</a:t>
                      </a:r>
                      <a:r>
                        <a:rPr lang="en-US" sz="975" u="none" cap="none" strike="noStrike"/>
                        <a:t>)</a:t>
                      </a:r>
                      <a:endParaRPr sz="1050"/>
                    </a:p>
                  </a:txBody>
                  <a:tcPr marT="34250" marB="342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Integration of </a:t>
                      </a:r>
                      <a:r>
                        <a:rPr lang="en-US" sz="975"/>
                        <a:t>SBC</a:t>
                      </a:r>
                      <a:r>
                        <a:rPr lang="en-US" sz="975" u="none" cap="none" strike="noStrike"/>
                        <a:t> and ML (to complete</a:t>
                      </a:r>
                      <a:r>
                        <a:rPr lang="en-US" sz="975"/>
                        <a:t> by </a:t>
                      </a:r>
                      <a:r>
                        <a:rPr lang="en-US" sz="975" u="none" cap="none" strike="noStrike"/>
                        <a:t> </a:t>
                      </a:r>
                      <a:r>
                        <a:rPr lang="en-US" sz="975"/>
                        <a:t>02</a:t>
                      </a:r>
                      <a:r>
                        <a:rPr lang="en-US" sz="975" u="none" cap="none" strike="noStrike"/>
                        <a:t>/</a:t>
                      </a:r>
                      <a:r>
                        <a:rPr lang="en-US" sz="975"/>
                        <a:t>20</a:t>
                      </a:r>
                      <a:r>
                        <a:rPr lang="en-US" sz="975" u="none" cap="none" strike="noStrike"/>
                        <a:t>)</a:t>
                      </a:r>
                      <a:endParaRPr sz="975" u="none" cap="none" strike="noStrike"/>
                    </a:p>
                  </a:txBody>
                  <a:tcPr marT="34250" marB="342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Integration of </a:t>
                      </a:r>
                      <a:r>
                        <a:rPr lang="en-US" sz="975"/>
                        <a:t>SBC and App (to complete </a:t>
                      </a:r>
                      <a:r>
                        <a:rPr lang="en-US" sz="975" u="none" cap="none" strike="noStrike"/>
                        <a:t>by </a:t>
                      </a:r>
                      <a:r>
                        <a:rPr lang="en-US" sz="975"/>
                        <a:t>02</a:t>
                      </a:r>
                      <a:r>
                        <a:rPr lang="en-US" sz="975" u="none" cap="none" strike="noStrike"/>
                        <a:t>/2</a:t>
                      </a:r>
                      <a:r>
                        <a:rPr lang="en-US" sz="975"/>
                        <a:t>0</a:t>
                      </a:r>
                      <a:r>
                        <a:rPr lang="en-US" sz="975" u="none" cap="none" strike="noStrike"/>
                        <a:t>)</a:t>
                      </a:r>
                      <a:endParaRPr sz="975" u="none" cap="none" strike="noStrike"/>
                    </a:p>
                  </a:txBody>
                  <a:tcPr marT="34250" marB="342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Final Integration </a:t>
                      </a:r>
                      <a:br>
                        <a:rPr lang="en-US" sz="975" u="none" cap="none" strike="noStrike"/>
                      </a:br>
                      <a:r>
                        <a:rPr lang="en-US" sz="975" u="none" cap="none" strike="noStrike"/>
                        <a:t>(to complete by </a:t>
                      </a:r>
                      <a:r>
                        <a:rPr lang="en-US" sz="975"/>
                        <a:t>03/05</a:t>
                      </a:r>
                      <a:r>
                        <a:rPr lang="en-US" sz="975" u="none" cap="none" strike="noStrike"/>
                        <a:t>)</a:t>
                      </a:r>
                      <a:endParaRPr sz="1050"/>
                    </a:p>
                  </a:txBody>
                  <a:tcPr marT="34250" marB="342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System Test</a:t>
                      </a:r>
                      <a:br>
                        <a:rPr lang="en-US" sz="975" u="none" cap="none" strike="noStrike"/>
                      </a:br>
                      <a:r>
                        <a:rPr lang="en-US" sz="975" u="none" cap="none" strike="noStrike"/>
                        <a:t>(to complete by </a:t>
                      </a:r>
                      <a:r>
                        <a:rPr lang="en-US" sz="975"/>
                        <a:t>03/26</a:t>
                      </a:r>
                      <a:r>
                        <a:rPr lang="en-US" sz="975" u="none" cap="none" strike="noStrike"/>
                        <a:t>)</a:t>
                      </a:r>
                      <a:endParaRPr sz="1050"/>
                    </a:p>
                  </a:txBody>
                  <a:tcPr marT="34250" marB="342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Validation</a:t>
                      </a:r>
                      <a:br>
                        <a:rPr lang="en-US" sz="975" u="none" cap="none" strike="noStrike"/>
                      </a:br>
                      <a:r>
                        <a:rPr lang="en-US" sz="975" u="none" cap="none" strike="noStrike"/>
                        <a:t>(to complete by </a:t>
                      </a:r>
                      <a:r>
                        <a:rPr lang="en-US" sz="975"/>
                        <a:t>04/02</a:t>
                      </a:r>
                      <a:r>
                        <a:rPr lang="en-US" sz="975" u="none" cap="none" strike="noStrike"/>
                        <a:t>)</a:t>
                      </a:r>
                      <a:endParaRPr sz="1050"/>
                    </a:p>
                  </a:txBody>
                  <a:tcPr marT="34250" marB="342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Demo and Report </a:t>
                      </a:r>
                      <a:br>
                        <a:rPr lang="en-US" sz="975" u="none" cap="none" strike="noStrike"/>
                      </a:br>
                      <a:r>
                        <a:rPr lang="en-US" sz="975" u="none" cap="none" strike="noStrike"/>
                        <a:t>(to complete by </a:t>
                      </a:r>
                      <a:r>
                        <a:rPr lang="en-US" sz="975"/>
                        <a:t>04/21</a:t>
                      </a:r>
                      <a:r>
                        <a:rPr lang="en-US" sz="975" u="none" cap="none" strike="noStrike"/>
                        <a:t>)</a:t>
                      </a:r>
                      <a:endParaRPr sz="975" u="none" cap="none" strike="noStrike"/>
                    </a:p>
                  </a:txBody>
                  <a:tcPr marT="34250" marB="3425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MCU/SBC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William Jachimiak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2980"/>
          </a:p>
        </p:txBody>
      </p:sp>
      <p:graphicFrame>
        <p:nvGraphicFramePr>
          <p:cNvPr id="130" name="Google Shape;130;p5"/>
          <p:cNvGraphicFramePr/>
          <p:nvPr/>
        </p:nvGraphicFramePr>
        <p:xfrm>
          <a:off x="685800" y="1464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{E0B99CF2-1A7B-4EB3-ADCD-E784B658339B}</a:tableStyleId>
              </a:tblPr>
              <a:tblGrid>
                <a:gridCol w="3886200"/>
                <a:gridCol w="3886200"/>
              </a:tblGrid>
              <a:tr h="4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last update  </a:t>
                      </a:r>
                      <a:r>
                        <a:rPr lang="en-US" sz="1350">
                          <a:solidFill>
                            <a:srgbClr val="C20000"/>
                          </a:solidFill>
                        </a:rPr>
                        <a:t>15</a:t>
                      </a:r>
                      <a:r>
                        <a:rPr lang="en-US" sz="1350" u="none" cap="none" strike="noStrike">
                          <a:solidFill>
                            <a:srgbClr val="C20000"/>
                          </a:solidFill>
                        </a:rPr>
                        <a:t> hrs of effort</a:t>
                      </a:r>
                      <a:endParaRPr sz="1350" u="none" cap="none" strike="noStrike">
                        <a:solidFill>
                          <a:srgbClr val="C2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Ongoing progress/problems and plans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300950">
                <a:tc>
                  <a:txBody>
                    <a:bodyPr/>
                    <a:lstStyle/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Sent alert over WiFi to the Firebase cloud and created a class to run </a:t>
                      </a:r>
                      <a:r>
                        <a:rPr lang="en-US" sz="1350"/>
                        <a:t>continuously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Ongoing integration with ML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Verifying data transfer to the machine learning class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Testing fall detection using real time data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>
            <p:ph type="title"/>
          </p:nvPr>
        </p:nvSpPr>
        <p:spPr>
          <a:xfrm>
            <a:off x="457200" y="860136"/>
            <a:ext cx="82296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MCU/SBC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William Jachimiak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2980"/>
          </a:p>
        </p:txBody>
      </p:sp>
      <p:pic>
        <p:nvPicPr>
          <p:cNvPr id="136" name="Google Shape;136;p6" title="404_update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888" y="1556825"/>
            <a:ext cx="8248223" cy="48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daec1217f_0_0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Machine Learning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Jean Jacques Chirat</a:t>
            </a:r>
            <a:endParaRPr sz="2980"/>
          </a:p>
        </p:txBody>
      </p:sp>
      <p:graphicFrame>
        <p:nvGraphicFramePr>
          <p:cNvPr id="142" name="Google Shape;142;g3bdaec1217f_0_0"/>
          <p:cNvGraphicFramePr/>
          <p:nvPr/>
        </p:nvGraphicFramePr>
        <p:xfrm>
          <a:off x="685800" y="1464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{E0B99CF2-1A7B-4EB3-ADCD-E784B658339B}</a:tableStyleId>
              </a:tblPr>
              <a:tblGrid>
                <a:gridCol w="3886200"/>
                <a:gridCol w="3886200"/>
              </a:tblGrid>
              <a:tr h="648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last update  </a:t>
                      </a:r>
                      <a:r>
                        <a:rPr lang="en-US" sz="1350">
                          <a:solidFill>
                            <a:srgbClr val="C20000"/>
                          </a:solidFill>
                        </a:rPr>
                        <a:t>8</a:t>
                      </a:r>
                      <a:r>
                        <a:rPr lang="en-US" sz="1350" u="none" cap="none" strike="noStrike">
                          <a:solidFill>
                            <a:srgbClr val="C20000"/>
                          </a:solidFill>
                        </a:rPr>
                        <a:t> hrs of effort</a:t>
                      </a:r>
                      <a:endParaRPr sz="1350" u="none" cap="none" strike="noStrike">
                        <a:solidFill>
                          <a:srgbClr val="C2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Ongoing progress/problems and plans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57625">
                <a:tc>
                  <a:txBody>
                    <a:bodyPr/>
                    <a:lstStyle/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Adapted existing code onto MCU for ML dataflow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Implemented new class &amp; function on MCU to do </a:t>
                      </a:r>
                      <a:r>
                        <a:rPr lang="en-US" sz="1350"/>
                        <a:t>inferencing on real-time data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Verify that data is 1:1 with model input format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Verify that MCU is able to compute prediction result within specified time limit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Validate entire data pipeline from </a:t>
                      </a:r>
                      <a:r>
                        <a:rPr lang="en-US" sz="1350"/>
                        <a:t>radar</a:t>
                      </a:r>
                      <a:r>
                        <a:rPr lang="en-US" sz="1350"/>
                        <a:t> to ML output (while actually operating)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daec1217f_0_6"/>
          <p:cNvSpPr txBox="1"/>
          <p:nvPr>
            <p:ph type="title"/>
          </p:nvPr>
        </p:nvSpPr>
        <p:spPr>
          <a:xfrm>
            <a:off x="457200" y="719916"/>
            <a:ext cx="82296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Machine Learning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Jean Jacques Chirat</a:t>
            </a:r>
            <a:endParaRPr/>
          </a:p>
        </p:txBody>
      </p:sp>
      <p:pic>
        <p:nvPicPr>
          <p:cNvPr id="148" name="Google Shape;148;g3bdaec1217f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2325" y="1428694"/>
            <a:ext cx="2703356" cy="3178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3bdaec1217f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650" y="1412681"/>
            <a:ext cx="2855250" cy="321069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bdaec1217f_0_6"/>
          <p:cNvSpPr txBox="1"/>
          <p:nvPr/>
        </p:nvSpPr>
        <p:spPr>
          <a:xfrm>
            <a:off x="706300" y="4707413"/>
            <a:ext cx="3807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Preprocessing code adapted for MCU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" name="Google Shape;151;g3bdaec1217f_0_6"/>
          <p:cNvSpPr txBox="1"/>
          <p:nvPr/>
        </p:nvSpPr>
        <p:spPr>
          <a:xfrm>
            <a:off x="4981073" y="4737844"/>
            <a:ext cx="32838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New code for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daec1217f_0_12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Aiden George</a:t>
            </a:r>
            <a:endParaRPr sz="2980"/>
          </a:p>
        </p:txBody>
      </p:sp>
      <p:graphicFrame>
        <p:nvGraphicFramePr>
          <p:cNvPr id="157" name="Google Shape;157;g3bdaec1217f_0_12"/>
          <p:cNvGraphicFramePr/>
          <p:nvPr/>
        </p:nvGraphicFramePr>
        <p:xfrm>
          <a:off x="726900" y="1649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{E0B99CF2-1A7B-4EB3-ADCD-E784B658339B}</a:tableStyleId>
              </a:tblPr>
              <a:tblGrid>
                <a:gridCol w="3886200"/>
                <a:gridCol w="3886200"/>
              </a:tblGrid>
              <a:tr h="62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last update  </a:t>
                      </a:r>
                      <a:r>
                        <a:rPr lang="en-US" sz="1350">
                          <a:solidFill>
                            <a:srgbClr val="C20000"/>
                          </a:solidFill>
                        </a:rPr>
                        <a:t>25</a:t>
                      </a:r>
                      <a:r>
                        <a:rPr lang="en-US" sz="1350" u="none" cap="none" strike="noStrike">
                          <a:solidFill>
                            <a:srgbClr val="C20000"/>
                          </a:solidFill>
                        </a:rPr>
                        <a:t> hrs of effort</a:t>
                      </a:r>
                      <a:endParaRPr sz="1350" u="none" cap="none" strike="noStrike">
                        <a:solidFill>
                          <a:srgbClr val="C2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Ongoing progress/problems and plans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695000">
                <a:tc>
                  <a:txBody>
                    <a:bodyPr/>
                    <a:lstStyle/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Finished</a:t>
                      </a:r>
                      <a:r>
                        <a:rPr lang="en-US" sz="1350"/>
                        <a:t> redesign and integration of </a:t>
                      </a:r>
                      <a:r>
                        <a:rPr lang="en-US" sz="1350"/>
                        <a:t>battery</a:t>
                      </a:r>
                      <a:r>
                        <a:rPr lang="en-US" sz="1350"/>
                        <a:t> charger IC 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Ordered for parts and board </a:t>
                      </a:r>
                      <a:endParaRPr sz="1350"/>
                    </a:p>
                    <a:p>
                      <a:pPr indent="-257175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Created CAD design for system enclosure and mounting bracket design for parts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7175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Char char="●"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Complete soldering of board and begin validation of design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-257175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Char char="●"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Finish MCU and Radar Bracket Mounts 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-257175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Char char="●"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3D print </a:t>
                      </a: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initial</a:t>
                      </a: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 model and ensure fitting of parts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daec1217f_0_18"/>
          <p:cNvSpPr txBox="1"/>
          <p:nvPr>
            <p:ph type="title"/>
          </p:nvPr>
        </p:nvSpPr>
        <p:spPr>
          <a:xfrm>
            <a:off x="457200" y="787004"/>
            <a:ext cx="82296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Aiden George</a:t>
            </a:r>
            <a:endParaRPr sz="2980"/>
          </a:p>
        </p:txBody>
      </p:sp>
      <p:pic>
        <p:nvPicPr>
          <p:cNvPr id="163" name="Google Shape;163;g3bdaec1217f_0_18" title="Screenshot 2026-02-11 0707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5950" y="1542650"/>
            <a:ext cx="3300839" cy="28193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4" name="Google Shape;164;g3bdaec1217f_0_18" title="Screenshot 2026-02-11 071540.png"/>
          <p:cNvPicPr preferRelativeResize="0"/>
          <p:nvPr/>
        </p:nvPicPr>
        <p:blipFill rotWithShape="1">
          <a:blip r:embed="rId4">
            <a:alphaModFix/>
          </a:blip>
          <a:srcRect b="1324" l="0" r="11917" t="12110"/>
          <a:stretch/>
        </p:blipFill>
        <p:spPr>
          <a:xfrm>
            <a:off x="547400" y="1542650"/>
            <a:ext cx="4427074" cy="28192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daec1217f_0_24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End User App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Preston</a:t>
            </a:r>
            <a:r>
              <a:rPr lang="en-US" sz="1720"/>
              <a:t> Bowyer</a:t>
            </a:r>
            <a:endParaRPr sz="2980"/>
          </a:p>
        </p:txBody>
      </p:sp>
      <p:graphicFrame>
        <p:nvGraphicFramePr>
          <p:cNvPr id="170" name="Google Shape;170;g3bdaec1217f_0_24"/>
          <p:cNvGraphicFramePr/>
          <p:nvPr/>
        </p:nvGraphicFramePr>
        <p:xfrm>
          <a:off x="685800" y="1464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{E0B99CF2-1A7B-4EB3-ADCD-E784B658339B}</a:tableStyleId>
              </a:tblPr>
              <a:tblGrid>
                <a:gridCol w="3886200"/>
                <a:gridCol w="3886200"/>
              </a:tblGrid>
              <a:tr h="59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last update  </a:t>
                      </a:r>
                      <a:r>
                        <a:rPr lang="en-US" sz="1350">
                          <a:solidFill>
                            <a:srgbClr val="C20000"/>
                          </a:solidFill>
                        </a:rPr>
                        <a:t>13</a:t>
                      </a:r>
                      <a:r>
                        <a:rPr lang="en-US" sz="1350" u="none" cap="none" strike="noStrike">
                          <a:solidFill>
                            <a:srgbClr val="C20000"/>
                          </a:solidFill>
                        </a:rPr>
                        <a:t> hrs of effort</a:t>
                      </a:r>
                      <a:endParaRPr sz="1350" u="none" cap="none" strike="noStrike">
                        <a:solidFill>
                          <a:srgbClr val="C2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900" u="none" cap="none" strike="noStrike"/>
                        <a:t>Ongoing progress/problems and plans until the next presentation</a:t>
                      </a:r>
                      <a:endParaRPr sz="90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603275">
                <a:tc>
                  <a:txBody>
                    <a:bodyPr/>
                    <a:lstStyle/>
                    <a:p>
                      <a:pPr indent="-257175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Char char="●"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Implemented the pipeline for the Raspberry Pi to publish detection and alert data to the cloud backend.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-257175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Char char="●"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Validated that alert data generated on the Pi is reliably written to the database.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7175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Char char="●"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Integrating Firestore publishing into the Raspberry Pi’s main detection runtime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-257175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Char char="●"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Refactoring the current standalone publishing script into a reusable module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-257175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Char char="●"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Automating execution on startup to remove manual intervention</a:t>
                      </a:r>
                      <a:endParaRPr sz="1350"/>
                    </a:p>
                    <a:p>
                      <a:pPr indent="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daec1217f_0_30"/>
          <p:cNvSpPr txBox="1"/>
          <p:nvPr>
            <p:ph type="title"/>
          </p:nvPr>
        </p:nvSpPr>
        <p:spPr>
          <a:xfrm>
            <a:off x="457200" y="710904"/>
            <a:ext cx="82296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End User App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Preston Bowyer</a:t>
            </a:r>
            <a:endParaRPr sz="2980"/>
          </a:p>
        </p:txBody>
      </p:sp>
      <p:pic>
        <p:nvPicPr>
          <p:cNvPr id="176" name="Google Shape;176;g3bdaec1217f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5826" y="1475802"/>
            <a:ext cx="4002187" cy="1534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bdaec1217f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050" y="1418250"/>
            <a:ext cx="3316925" cy="1591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bdaec1217f_0_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9626" y="3009877"/>
            <a:ext cx="4004739" cy="192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>
            <p:ph type="title"/>
          </p:nvPr>
        </p:nvSpPr>
        <p:spPr>
          <a:xfrm>
            <a:off x="457200" y="6725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184" name="Google Shape;184;p7" title="404_execution pl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812" y="1275275"/>
            <a:ext cx="7066374" cy="371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71efe14c7_0_0"/>
          <p:cNvSpPr txBox="1"/>
          <p:nvPr>
            <p:ph type="title"/>
          </p:nvPr>
        </p:nvSpPr>
        <p:spPr>
          <a:xfrm>
            <a:off x="457200" y="6725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pic>
        <p:nvPicPr>
          <p:cNvPr id="190" name="Google Shape;190;g3c71efe14c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325" y="1275264"/>
            <a:ext cx="5623348" cy="3639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 txBox="1"/>
          <p:nvPr>
            <p:ph idx="4294967295" type="title"/>
          </p:nvPr>
        </p:nvSpPr>
        <p:spPr>
          <a:xfrm>
            <a:off x="457200" y="1206104"/>
            <a:ext cx="82296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Thank you for listening!</a:t>
            </a:r>
            <a:endParaRPr b="1" sz="3200"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Q&amp;A</a:t>
            </a:r>
            <a:endParaRPr b="1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4</vt:lpwstr>
  </property>
</Properties>
</file>