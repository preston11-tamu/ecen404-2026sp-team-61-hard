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custom-properties+xml" PartName="/docProps/custom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32918400" cx="438912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hK+qM973MNh+9HzzVS5kimWETh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38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9" name="Google Shape;29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Image">
  <p:cSld name="Background Imag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7772400" y="457200"/>
            <a:ext cx="28346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914400" y="6590021"/>
            <a:ext cx="9829800" cy="240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800" u="sng" cap="none" strike="noStrike">
                <a:solidFill>
                  <a:srgbClr val="5D002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21" name="Google Shape;21;p3"/>
          <p:cNvCxnSpPr/>
          <p:nvPr/>
        </p:nvCxnSpPr>
        <p:spPr>
          <a:xfrm>
            <a:off x="11201400" y="6400800"/>
            <a:ext cx="0" cy="24886364"/>
          </a:xfrm>
          <a:prstGeom prst="straightConnector1">
            <a:avLst/>
          </a:prstGeom>
          <a:noFill/>
          <a:ln cap="flat" cmpd="tri" w="76200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22" name="Google Shape;22;p3"/>
          <p:cNvSpPr txBox="1"/>
          <p:nvPr>
            <p:ph idx="2" type="body"/>
          </p:nvPr>
        </p:nvSpPr>
        <p:spPr>
          <a:xfrm>
            <a:off x="11658600" y="6590020"/>
            <a:ext cx="9829800" cy="240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800" u="sng" cap="none" strike="noStrike">
                <a:solidFill>
                  <a:srgbClr val="5D002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23" name="Google Shape;23;p3"/>
          <p:cNvCxnSpPr/>
          <p:nvPr/>
        </p:nvCxnSpPr>
        <p:spPr>
          <a:xfrm>
            <a:off x="21945600" y="6400800"/>
            <a:ext cx="0" cy="24917400"/>
          </a:xfrm>
          <a:prstGeom prst="straightConnector1">
            <a:avLst/>
          </a:prstGeom>
          <a:noFill/>
          <a:ln cap="flat" cmpd="tri" w="76200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24" name="Google Shape;24;p3"/>
          <p:cNvSpPr txBox="1"/>
          <p:nvPr>
            <p:ph idx="3" type="body"/>
          </p:nvPr>
        </p:nvSpPr>
        <p:spPr>
          <a:xfrm>
            <a:off x="22402800" y="6590020"/>
            <a:ext cx="9829800" cy="240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800" u="sng" cap="none" strike="noStrike">
                <a:solidFill>
                  <a:srgbClr val="5D002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25" name="Google Shape;25;p3"/>
          <p:cNvCxnSpPr/>
          <p:nvPr/>
        </p:nvCxnSpPr>
        <p:spPr>
          <a:xfrm>
            <a:off x="32689800" y="6400800"/>
            <a:ext cx="0" cy="24886364"/>
          </a:xfrm>
          <a:prstGeom prst="straightConnector1">
            <a:avLst/>
          </a:prstGeom>
          <a:noFill/>
          <a:ln cap="flat" cmpd="tri" w="76200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26" name="Google Shape;26;p3"/>
          <p:cNvSpPr txBox="1"/>
          <p:nvPr>
            <p:ph idx="4" type="body"/>
          </p:nvPr>
        </p:nvSpPr>
        <p:spPr>
          <a:xfrm>
            <a:off x="33147000" y="6590020"/>
            <a:ext cx="9829800" cy="240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800" u="sng" cap="none" strike="noStrike">
                <a:solidFill>
                  <a:srgbClr val="5D002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20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43891200" cy="5486400"/>
          </a:xfrm>
          <a:prstGeom prst="rect">
            <a:avLst/>
          </a:prstGeom>
          <a:solidFill>
            <a:srgbClr val="5D00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0" y="5257801"/>
            <a:ext cx="43891200" cy="265176"/>
          </a:xfrm>
          <a:prstGeom prst="rect">
            <a:avLst/>
          </a:prstGeom>
          <a:solidFill>
            <a:srgbClr val="8D50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58"/>
              <a:buFont typeface="Arial"/>
              <a:buNone/>
            </a:pPr>
            <a:r>
              <a:t/>
            </a:r>
            <a:endParaRPr b="0" i="0" sz="7258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0" y="31470600"/>
            <a:ext cx="43891200" cy="1447800"/>
          </a:xfrm>
          <a:prstGeom prst="rect">
            <a:avLst/>
          </a:prstGeom>
          <a:solidFill>
            <a:srgbClr val="5D00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" name="Google Shape;13;p2"/>
          <p:cNvCxnSpPr/>
          <p:nvPr/>
        </p:nvCxnSpPr>
        <p:spPr>
          <a:xfrm>
            <a:off x="31543262" y="30837464"/>
            <a:ext cx="0" cy="1588169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</p:cxnSp>
      <p:pic>
        <p:nvPicPr>
          <p:cNvPr descr="TAMU Logo" id="14" name="Google Shape;14;p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12943"/>
            <a:ext cx="30808245" cy="2503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 rotWithShape="1">
          <a:blip r:embed="rId1">
            <a:alphaModFix/>
          </a:blip>
          <a:srcRect b="0" l="65059" r="0" t="0"/>
          <a:stretch/>
        </p:blipFill>
        <p:spPr>
          <a:xfrm>
            <a:off x="1" y="31434024"/>
            <a:ext cx="43939859" cy="1471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1">
            <a:alphaModFix/>
          </a:blip>
          <a:srcRect b="0" l="65059" r="0" t="0"/>
          <a:stretch/>
        </p:blipFill>
        <p:spPr>
          <a:xfrm>
            <a:off x="1" y="5120640"/>
            <a:ext cx="43891201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 rotWithShape="1">
          <a:blip r:embed="rId1">
            <a:alphaModFix/>
          </a:blip>
          <a:srcRect b="0" l="65059" r="0" t="0"/>
          <a:stretch/>
        </p:blipFill>
        <p:spPr>
          <a:xfrm>
            <a:off x="36157168" y="0"/>
            <a:ext cx="7734033" cy="298267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9.jpg"/><Relationship Id="rId11" Type="http://schemas.openxmlformats.org/officeDocument/2006/relationships/image" Target="../media/image5.png"/><Relationship Id="rId10" Type="http://schemas.openxmlformats.org/officeDocument/2006/relationships/image" Target="../media/image6.png"/><Relationship Id="rId9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"/>
          <p:cNvSpPr txBox="1"/>
          <p:nvPr>
            <p:ph type="title"/>
          </p:nvPr>
        </p:nvSpPr>
        <p:spPr>
          <a:xfrm>
            <a:off x="7635240" y="556260"/>
            <a:ext cx="28620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Human Activity Radar Detector</a:t>
            </a:r>
            <a:br>
              <a:rPr lang="en-US"/>
            </a:br>
            <a:r>
              <a:rPr lang="en-US" sz="4800"/>
              <a:t>William Jachimiak, Jean Jacques Chirat, </a:t>
            </a:r>
            <a:endParaRPr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Preston Bowyer, Aiden George</a:t>
            </a:r>
            <a:br>
              <a:rPr lang="en-US" sz="4800"/>
            </a:br>
            <a:r>
              <a:rPr lang="en-US" sz="4800"/>
              <a:t>Sponsor: Dr. Arya Menon</a:t>
            </a:r>
            <a:endParaRPr/>
          </a:p>
        </p:txBody>
      </p:sp>
      <p:sp>
        <p:nvSpPr>
          <p:cNvPr id="32" name="Google Shape;32;p1"/>
          <p:cNvSpPr txBox="1"/>
          <p:nvPr>
            <p:ph idx="1" type="body"/>
          </p:nvPr>
        </p:nvSpPr>
        <p:spPr>
          <a:xfrm>
            <a:off x="925480" y="6590021"/>
            <a:ext cx="9829800" cy="240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Definition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2800" u="none">
                <a:solidFill>
                  <a:srgbClr val="000000"/>
                </a:solidFill>
              </a:rPr>
              <a:t>Falls in residential and assisted living environments are a leading cause of injury and often go undetected in real time.</a:t>
            </a:r>
            <a:endParaRPr b="0" sz="2800" u="none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2800" u="none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2800" u="none">
                <a:solidFill>
                  <a:srgbClr val="000000"/>
                </a:solidFill>
              </a:rPr>
              <a:t>Existing solutions such as wearables and cameras suffer from low user compliance, privacy concerns, or unreliable detection performance.</a:t>
            </a:r>
            <a:endParaRPr b="0" sz="2800" u="none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2800" u="none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2800" u="none">
                <a:solidFill>
                  <a:srgbClr val="000000"/>
                </a:solidFill>
              </a:rPr>
              <a:t>This project aims to develop a non-invasive, radar-based fall detection system that integrates sensing, embedded processing, machine learning, power systems and cloud-connected alerting to provide reliable, real-ti</a:t>
            </a:r>
            <a:r>
              <a:rPr b="0" lang="en-US" sz="2800" u="none">
                <a:solidFill>
                  <a:srgbClr val="000000"/>
                </a:solidFill>
              </a:rPr>
              <a:t>m</a:t>
            </a:r>
            <a:r>
              <a:rPr b="0" lang="en-US" sz="2800" u="none">
                <a:solidFill>
                  <a:srgbClr val="000000"/>
                </a:solidFill>
              </a:rPr>
              <a:t>e notification to caregivers.</a:t>
            </a:r>
            <a:endParaRPr b="0" sz="2800" u="none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Methodology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2800" u="none">
                <a:solidFill>
                  <a:srgbClr val="000000"/>
                </a:solidFill>
              </a:rPr>
              <a:t>• </a:t>
            </a:r>
            <a:r>
              <a:rPr lang="en-US" sz="2800" u="none">
                <a:solidFill>
                  <a:srgbClr val="000000"/>
                </a:solidFill>
              </a:rPr>
              <a:t>Radar Subsystem:</a:t>
            </a:r>
            <a:br>
              <a:rPr lang="en-US" sz="2800" u="none">
                <a:solidFill>
                  <a:srgbClr val="000000"/>
                </a:solidFill>
              </a:rPr>
            </a:br>
            <a:r>
              <a:rPr b="0" lang="en-US" sz="2800" u="none">
                <a:solidFill>
                  <a:srgbClr val="000000"/>
                </a:solidFill>
              </a:rPr>
              <a:t>Captures </a:t>
            </a:r>
            <a:r>
              <a:rPr b="0" lang="en-US" sz="2800" u="none">
                <a:solidFill>
                  <a:srgbClr val="000000"/>
                </a:solidFill>
              </a:rPr>
              <a:t>raw motion </a:t>
            </a:r>
            <a:r>
              <a:rPr b="0" lang="en-US" sz="2800" u="none">
                <a:solidFill>
                  <a:srgbClr val="000000"/>
                </a:solidFill>
              </a:rPr>
              <a:t>data using mmWave radar and interfaces the data with ML and App subsystems</a:t>
            </a:r>
            <a:endParaRPr b="0" sz="2800" u="none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2800" u="none">
                <a:solidFill>
                  <a:srgbClr val="000000"/>
                </a:solidFill>
              </a:rPr>
              <a:t>• </a:t>
            </a:r>
            <a:r>
              <a:rPr lang="en-US" sz="2800" u="none">
                <a:solidFill>
                  <a:srgbClr val="000000"/>
                </a:solidFill>
              </a:rPr>
              <a:t>Machine Learning Subsystem:</a:t>
            </a:r>
            <a:br>
              <a:rPr lang="en-US" sz="2800" u="none">
                <a:solidFill>
                  <a:srgbClr val="000000"/>
                </a:solidFill>
              </a:rPr>
            </a:br>
            <a:r>
              <a:rPr b="0" lang="en-US" sz="2800" u="none">
                <a:solidFill>
                  <a:srgbClr val="000000"/>
                </a:solidFill>
              </a:rPr>
              <a:t>Trained classification model to distinguish fall vs non-fall  events using processed radar data</a:t>
            </a:r>
            <a:endParaRPr b="0" sz="2800" u="none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2800" u="none">
                <a:solidFill>
                  <a:srgbClr val="000000"/>
                </a:solidFill>
              </a:rPr>
              <a:t>• </a:t>
            </a:r>
            <a:r>
              <a:rPr lang="en-US" sz="2800" u="none">
                <a:solidFill>
                  <a:srgbClr val="000000"/>
                </a:solidFill>
              </a:rPr>
              <a:t>Power Subsystem:</a:t>
            </a:r>
            <a:br>
              <a:rPr lang="en-US" sz="2800" u="none">
                <a:solidFill>
                  <a:srgbClr val="000000"/>
                </a:solidFill>
              </a:rPr>
            </a:br>
            <a:r>
              <a:rPr b="0" lang="en-US" sz="2800" u="none">
                <a:solidFill>
                  <a:srgbClr val="000000"/>
                </a:solidFill>
              </a:rPr>
              <a:t>Designed and validated battery powered stable voltage regulation for continuous system operation while charging batteries </a:t>
            </a:r>
            <a:endParaRPr b="0" sz="2800" u="none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2800" u="none">
                <a:solidFill>
                  <a:srgbClr val="000000"/>
                </a:solidFill>
              </a:rPr>
              <a:t>•</a:t>
            </a:r>
            <a:r>
              <a:rPr lang="en-US" sz="2800" u="none">
                <a:solidFill>
                  <a:srgbClr val="000000"/>
                </a:solidFill>
              </a:rPr>
              <a:t>End-User App Subsystem:</a:t>
            </a:r>
            <a:br>
              <a:rPr lang="en-US" sz="2800" u="none">
                <a:solidFill>
                  <a:srgbClr val="000000"/>
                </a:solidFill>
              </a:rPr>
            </a:br>
            <a:r>
              <a:rPr b="0" lang="en-US" sz="2800" u="none">
                <a:solidFill>
                  <a:srgbClr val="000000"/>
                </a:solidFill>
              </a:rPr>
              <a:t>Provides real-time alert visualization, user interaction, and system monitoring through a mobile interface, with alert acknowledgment, historical data analysis, and device status tracking via cloud integration</a:t>
            </a:r>
            <a:endParaRPr b="0" sz="2800" u="none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b="0" lang="en-US" sz="2800" u="none">
                <a:solidFill>
                  <a:srgbClr val="000000"/>
                </a:solidFill>
              </a:rPr>
            </a:br>
            <a:r>
              <a:rPr b="0" lang="en-US" sz="2800" u="none">
                <a:solidFill>
                  <a:srgbClr val="000000"/>
                </a:solidFill>
              </a:rPr>
              <a:t>• </a:t>
            </a:r>
            <a:r>
              <a:rPr lang="en-US" sz="2800" u="none">
                <a:solidFill>
                  <a:srgbClr val="000000"/>
                </a:solidFill>
              </a:rPr>
              <a:t>System Integration:</a:t>
            </a:r>
            <a:br>
              <a:rPr lang="en-US" sz="2800" u="none">
                <a:solidFill>
                  <a:srgbClr val="000000"/>
                </a:solidFill>
              </a:rPr>
            </a:br>
            <a:endParaRPr b="0" sz="2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33" name="Google Shape;33;p1"/>
          <p:cNvSpPr txBox="1"/>
          <p:nvPr>
            <p:ph idx="2" type="body"/>
          </p:nvPr>
        </p:nvSpPr>
        <p:spPr>
          <a:xfrm>
            <a:off x="11674281" y="6590020"/>
            <a:ext cx="9829800" cy="240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Engineering Analysis</a:t>
            </a:r>
            <a:endParaRPr b="0" sz="2800" u="none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2800" u="none">
                <a:solidFill>
                  <a:srgbClr val="000000"/>
                </a:solidFill>
              </a:rPr>
              <a:t>• </a:t>
            </a:r>
            <a:r>
              <a:rPr lang="en-US" sz="2800" u="none">
                <a:solidFill>
                  <a:srgbClr val="000000"/>
                </a:solidFill>
              </a:rPr>
              <a:t>Data Processing Pipeline:</a:t>
            </a:r>
            <a:br>
              <a:rPr lang="en-US" sz="2800" u="none">
                <a:solidFill>
                  <a:srgbClr val="000000"/>
                </a:solidFill>
              </a:rPr>
            </a:br>
            <a:r>
              <a:rPr b="0" lang="en-US" sz="2800" u="none">
                <a:solidFill>
                  <a:srgbClr val="000000"/>
                </a:solidFill>
              </a:rPr>
              <a:t> Evaluated preprocessing and feature extraction pipeline to ensure consistent, low-noise inputs to the ML model</a:t>
            </a:r>
            <a:endParaRPr b="0" sz="2800" u="none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2800" u="none">
                <a:solidFill>
                  <a:srgbClr val="000000"/>
                </a:solidFill>
              </a:rPr>
              <a:t>• </a:t>
            </a:r>
            <a:r>
              <a:rPr lang="en-US" sz="2800" u="none">
                <a:solidFill>
                  <a:srgbClr val="000000"/>
                </a:solidFill>
              </a:rPr>
              <a:t>Machine Learning Performance:</a:t>
            </a:r>
            <a:br>
              <a:rPr lang="en-US" sz="2800" u="none">
                <a:solidFill>
                  <a:srgbClr val="000000"/>
                </a:solidFill>
              </a:rPr>
            </a:br>
            <a:r>
              <a:rPr b="0" lang="en-US" sz="2800" u="none">
                <a:solidFill>
                  <a:srgbClr val="000000"/>
                </a:solidFill>
              </a:rPr>
              <a:t> Tested classification behavior across labeled fall/non-fall events</a:t>
            </a:r>
            <a:br>
              <a:rPr b="0" lang="en-US" sz="2800" u="none">
                <a:solidFill>
                  <a:srgbClr val="000000"/>
                </a:solidFill>
              </a:rPr>
            </a:br>
            <a:r>
              <a:rPr b="0" lang="en-US" sz="2800" u="none">
                <a:solidFill>
                  <a:srgbClr val="000000"/>
                </a:solidFill>
              </a:rPr>
              <a:t> Analyzed prediction accuracy, confidence levels, and misclassification cases</a:t>
            </a:r>
            <a:endParaRPr b="0" sz="2800" u="none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2800" u="none">
                <a:solidFill>
                  <a:srgbClr val="000000"/>
                </a:solidFill>
              </a:rPr>
              <a:t>• </a:t>
            </a:r>
            <a:r>
              <a:rPr lang="en-US" sz="2800" u="none">
                <a:solidFill>
                  <a:srgbClr val="000000"/>
                </a:solidFill>
              </a:rPr>
              <a:t>End-to-End System Latency:</a:t>
            </a:r>
            <a:br>
              <a:rPr lang="en-US" sz="2800" u="none">
                <a:solidFill>
                  <a:srgbClr val="000000"/>
                </a:solidFill>
              </a:rPr>
            </a:br>
            <a:r>
              <a:rPr b="0" lang="en-US" sz="2800" u="none">
                <a:solidFill>
                  <a:srgbClr val="000000"/>
                </a:solidFill>
              </a:rPr>
              <a:t> Measured total time from physical event → radar capture → ML inference → cloud transmission → mobile display</a:t>
            </a:r>
            <a:endParaRPr b="0" sz="2800" u="none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2800" u="none">
                <a:solidFill>
                  <a:srgbClr val="000000"/>
                </a:solidFill>
              </a:rPr>
              <a:t>• </a:t>
            </a:r>
            <a:r>
              <a:rPr lang="en-US" sz="2800" u="none">
                <a:solidFill>
                  <a:srgbClr val="000000"/>
                </a:solidFill>
              </a:rPr>
              <a:t>System Load Testing:</a:t>
            </a:r>
            <a:br>
              <a:rPr lang="en-US" sz="2800" u="none">
                <a:solidFill>
                  <a:srgbClr val="000000"/>
                </a:solidFill>
              </a:rPr>
            </a:br>
            <a:r>
              <a:rPr b="0" lang="en-US" sz="2800" u="none">
                <a:solidFill>
                  <a:srgbClr val="000000"/>
                </a:solidFill>
              </a:rPr>
              <a:t> Simulated high-frequency alert generation to evaluate system throughput and stability under stress conditions</a:t>
            </a:r>
            <a:endParaRPr b="0" sz="2800" u="none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2800" u="none">
                <a:solidFill>
                  <a:srgbClr val="000000"/>
                </a:solidFill>
              </a:rPr>
              <a:t>• </a:t>
            </a:r>
            <a:r>
              <a:rPr lang="en-US" sz="2800" u="none">
                <a:solidFill>
                  <a:srgbClr val="000000"/>
                </a:solidFill>
              </a:rPr>
              <a:t>Power System Stability:</a:t>
            </a:r>
            <a:br>
              <a:rPr lang="en-US" sz="2800" u="none">
                <a:solidFill>
                  <a:srgbClr val="000000"/>
                </a:solidFill>
              </a:rPr>
            </a:br>
            <a:r>
              <a:rPr b="0" lang="en-US" sz="2800" u="none">
                <a:solidFill>
                  <a:srgbClr val="000000"/>
                </a:solidFill>
              </a:rPr>
              <a:t> Verified consistent voltage/current delivery and continuous system operation under sustained runtime</a:t>
            </a:r>
            <a:endParaRPr b="0" sz="2800" u="none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2800" u="none">
                <a:solidFill>
                  <a:srgbClr val="000000"/>
                </a:solidFill>
              </a:rPr>
              <a:t>• </a:t>
            </a:r>
            <a:r>
              <a:rPr lang="en-US" sz="2800" u="none">
                <a:solidFill>
                  <a:srgbClr val="000000"/>
                </a:solidFill>
              </a:rPr>
              <a:t>Data Integrity &amp; Backend Processing</a:t>
            </a:r>
            <a:r>
              <a:rPr lang="en-US" sz="2800" u="none">
                <a:solidFill>
                  <a:srgbClr val="000000"/>
                </a:solidFill>
              </a:rPr>
              <a:t>):</a:t>
            </a:r>
            <a:br>
              <a:rPr lang="en-US" sz="2800" u="none">
                <a:solidFill>
                  <a:srgbClr val="000000"/>
                </a:solidFill>
              </a:rPr>
            </a:br>
            <a:r>
              <a:rPr b="0" lang="en-US" sz="2800" u="none">
                <a:solidFill>
                  <a:srgbClr val="000000"/>
                </a:solidFill>
              </a:rPr>
              <a:t> Ve</a:t>
            </a:r>
            <a:r>
              <a:rPr b="0" lang="en-US" sz="2800" u="none">
                <a:solidFill>
                  <a:srgbClr val="000000"/>
                </a:solidFill>
              </a:rPr>
              <a:t>rified correct ingestion, storage, and retrieval of alert data across the backend pipeline</a:t>
            </a:r>
            <a:endParaRPr b="0" sz="2800" u="none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2600" u="none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 txBox="1"/>
          <p:nvPr>
            <p:ph idx="3" type="body"/>
          </p:nvPr>
        </p:nvSpPr>
        <p:spPr>
          <a:xfrm>
            <a:off x="22426516" y="6590020"/>
            <a:ext cx="9829800" cy="240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Outcomes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2800" u="none">
                <a:solidFill>
                  <a:srgbClr val="000000"/>
                </a:solidFill>
              </a:rPr>
              <a:t>• </a:t>
            </a:r>
            <a:r>
              <a:rPr lang="en-US" sz="2800" u="none">
                <a:solidFill>
                  <a:srgbClr val="000000"/>
                </a:solidFill>
              </a:rPr>
              <a:t>Detection Performance:</a:t>
            </a:r>
            <a:br>
              <a:rPr lang="en-US" sz="2800" u="none">
                <a:solidFill>
                  <a:srgbClr val="000000"/>
                </a:solidFill>
              </a:rPr>
            </a:br>
            <a:r>
              <a:rPr b="0" lang="en-US" sz="2800" u="none">
                <a:solidFill>
                  <a:srgbClr val="000000"/>
                </a:solidFill>
              </a:rPr>
              <a:t> ~91% accuracy across 73+ controlled test cases</a:t>
            </a:r>
            <a:br>
              <a:rPr b="0" lang="en-US" sz="2800" u="none">
                <a:solidFill>
                  <a:srgbClr val="000000"/>
                </a:solidFill>
              </a:rPr>
            </a:br>
            <a:r>
              <a:rPr b="0" lang="en-US" sz="2800" u="none">
                <a:solidFill>
                  <a:srgbClr val="000000"/>
                </a:solidFill>
              </a:rPr>
              <a:t>  Reliable distinction between fall and non-fall events</a:t>
            </a:r>
            <a:endParaRPr b="0" sz="2800" u="none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2800" u="none">
                <a:solidFill>
                  <a:srgbClr val="000000"/>
                </a:solidFill>
              </a:rPr>
              <a:t>• </a:t>
            </a:r>
            <a:r>
              <a:rPr lang="en-US" sz="2800" u="none">
                <a:solidFill>
                  <a:srgbClr val="000000"/>
                </a:solidFill>
              </a:rPr>
              <a:t>System Response Time:</a:t>
            </a:r>
            <a:br>
              <a:rPr lang="en-US" sz="2800" u="none">
                <a:solidFill>
                  <a:srgbClr val="000000"/>
                </a:solidFill>
              </a:rPr>
            </a:br>
            <a:r>
              <a:rPr b="0" lang="en-US" sz="2800" u="none">
                <a:solidFill>
                  <a:srgbClr val="000000"/>
                </a:solidFill>
              </a:rPr>
              <a:t> Alert delivery consistently under 20 seconds</a:t>
            </a:r>
            <a:br>
              <a:rPr b="0" lang="en-US" sz="2800" u="none">
                <a:solidFill>
                  <a:srgbClr val="000000"/>
                </a:solidFill>
              </a:rPr>
            </a:br>
            <a:r>
              <a:rPr b="0" lang="en-US" sz="2800" u="none">
                <a:solidFill>
                  <a:srgbClr val="000000"/>
                </a:solidFill>
              </a:rPr>
              <a:t> Average response time: ~6.75 seconds</a:t>
            </a:r>
            <a:endParaRPr b="0" sz="2800" u="none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2800" u="none">
                <a:solidFill>
                  <a:srgbClr val="000000"/>
                </a:solidFill>
              </a:rPr>
              <a:t>• </a:t>
            </a:r>
            <a:r>
              <a:rPr lang="en-US" sz="2800" u="none">
                <a:solidFill>
                  <a:srgbClr val="000000"/>
                </a:solidFill>
              </a:rPr>
              <a:t>High Load Reliability:</a:t>
            </a:r>
            <a:br>
              <a:rPr lang="en-US" sz="2800" u="none">
                <a:solidFill>
                  <a:srgbClr val="000000"/>
                </a:solidFill>
              </a:rPr>
            </a:br>
            <a:r>
              <a:rPr b="0" lang="en-US" sz="2800" u="none">
                <a:solidFill>
                  <a:srgbClr val="000000"/>
                </a:solidFill>
              </a:rPr>
              <a:t> Successfully processed 100 alerts in rapid succession</a:t>
            </a:r>
            <a:br>
              <a:rPr b="0" lang="en-US" sz="2800" u="none">
                <a:solidFill>
                  <a:srgbClr val="000000"/>
                </a:solidFill>
              </a:rPr>
            </a:br>
            <a:r>
              <a:rPr b="0" lang="en-US" sz="2800" u="none">
                <a:solidFill>
                  <a:srgbClr val="000000"/>
                </a:solidFill>
              </a:rPr>
              <a:t> 0 dropped alerts with no system </a:t>
            </a:r>
            <a:r>
              <a:rPr b="0" lang="en-US" sz="2800" u="none">
                <a:solidFill>
                  <a:srgbClr val="000000"/>
                </a:solidFill>
              </a:rPr>
              <a:t>degradation</a:t>
            </a:r>
            <a:endParaRPr b="0" sz="2800" u="none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2800" u="none">
                <a:solidFill>
                  <a:srgbClr val="000000"/>
                </a:solidFill>
              </a:rPr>
              <a:t>• </a:t>
            </a:r>
            <a:r>
              <a:rPr lang="en-US" sz="2800" u="none">
                <a:solidFill>
                  <a:srgbClr val="000000"/>
                </a:solidFill>
              </a:rPr>
              <a:t>Communication Stability:</a:t>
            </a:r>
            <a:br>
              <a:rPr lang="en-US" sz="2800" u="none">
                <a:solidFill>
                  <a:srgbClr val="000000"/>
                </a:solidFill>
              </a:rPr>
            </a:br>
            <a:r>
              <a:rPr b="0" lang="en-US" sz="2800" u="none">
                <a:solidFill>
                  <a:srgbClr val="000000"/>
                </a:solidFill>
              </a:rPr>
              <a:t> Reliable data transmission from device to cloud across repeated trials. Maintained operation under continuous request cycles</a:t>
            </a:r>
            <a:endParaRPr b="0" sz="2800" u="none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2800" u="none">
                <a:solidFill>
                  <a:srgbClr val="000000"/>
                </a:solidFill>
              </a:rPr>
              <a:t>• </a:t>
            </a:r>
            <a:r>
              <a:rPr lang="en-US" sz="2800" u="none">
                <a:solidFill>
                  <a:srgbClr val="000000"/>
                </a:solidFill>
              </a:rPr>
              <a:t>Power System Performance:</a:t>
            </a:r>
            <a:br>
              <a:rPr lang="en-US" sz="2800" u="none">
                <a:solidFill>
                  <a:srgbClr val="000000"/>
                </a:solidFill>
              </a:rPr>
            </a:br>
            <a:r>
              <a:rPr b="0" lang="en-US" sz="2800" u="none">
                <a:solidFill>
                  <a:srgbClr val="000000"/>
                </a:solidFill>
              </a:rPr>
              <a:t> Stable operation during four hour runtime</a:t>
            </a:r>
            <a:endParaRPr b="0" sz="2800" u="none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2800" u="none">
                <a:solidFill>
                  <a:srgbClr val="000000"/>
                </a:solidFill>
              </a:rPr>
              <a:t>• </a:t>
            </a:r>
            <a:r>
              <a:rPr lang="en-US" sz="2800" u="none">
                <a:solidFill>
                  <a:srgbClr val="000000"/>
                </a:solidFill>
              </a:rPr>
              <a:t>User Authentication:</a:t>
            </a:r>
            <a:br>
              <a:rPr lang="en-US" sz="2800" u="none">
                <a:solidFill>
                  <a:srgbClr val="000000"/>
                </a:solidFill>
              </a:rPr>
            </a:br>
            <a:r>
              <a:rPr b="0" lang="en-US" sz="2800" u="none">
                <a:solidFill>
                  <a:srgbClr val="000000"/>
                </a:solidFill>
              </a:rPr>
              <a:t> 100% correct acceptance/rejection across test cases. </a:t>
            </a:r>
            <a:endParaRPr b="0" sz="2800" u="none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2800" u="none">
                <a:solidFill>
                  <a:srgbClr val="000000"/>
                </a:solidFill>
              </a:rPr>
              <a:t>• </a:t>
            </a:r>
            <a:r>
              <a:rPr lang="en-US" sz="2800" u="none">
                <a:solidFill>
                  <a:srgbClr val="000000"/>
                </a:solidFill>
              </a:rPr>
              <a:t>Device Monitoring:</a:t>
            </a:r>
            <a:br>
              <a:rPr lang="en-US" sz="2800" u="none">
                <a:solidFill>
                  <a:srgbClr val="000000"/>
                </a:solidFill>
              </a:rPr>
            </a:br>
            <a:r>
              <a:rPr b="0" lang="en-US" sz="2800" u="none">
                <a:solidFill>
                  <a:srgbClr val="000000"/>
                </a:solidFill>
              </a:rPr>
              <a:t> System accurately detects device online/offline status.</a:t>
            </a:r>
            <a:endParaRPr b="0" sz="2800" u="none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2800" u="none">
                <a:solidFill>
                  <a:srgbClr val="000000"/>
                </a:solidFill>
              </a:rPr>
              <a:t>• </a:t>
            </a:r>
            <a:r>
              <a:rPr lang="en-US" sz="2800" u="none">
                <a:solidFill>
                  <a:srgbClr val="000000"/>
                </a:solidFill>
              </a:rPr>
              <a:t>User Interface Functionality:</a:t>
            </a:r>
            <a:br>
              <a:rPr lang="en-US" sz="2800" u="none">
                <a:solidFill>
                  <a:srgbClr val="000000"/>
                </a:solidFill>
              </a:rPr>
            </a:br>
            <a:r>
              <a:rPr b="0" lang="en-US" sz="2800" u="none">
                <a:solidFill>
                  <a:srgbClr val="000000"/>
                </a:solidFill>
              </a:rPr>
              <a:t> Fully operational mobile app including: Real-time alerts, alert acknowledgment, historical analytics and trend visualization</a:t>
            </a:r>
            <a:endParaRPr b="0" sz="2800" u="none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2800" u="none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2800" u="none">
              <a:solidFill>
                <a:srgbClr val="000000"/>
              </a:solidFill>
            </a:endParaRPr>
          </a:p>
        </p:txBody>
      </p:sp>
      <p:sp>
        <p:nvSpPr>
          <p:cNvPr id="35" name="Google Shape;35;p1"/>
          <p:cNvSpPr txBox="1"/>
          <p:nvPr>
            <p:ph idx="4" type="body"/>
          </p:nvPr>
        </p:nvSpPr>
        <p:spPr>
          <a:xfrm>
            <a:off x="33147000" y="6590020"/>
            <a:ext cx="9829800" cy="240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</a:t>
            </a:r>
            <a:r>
              <a:rPr lang="en-US"/>
              <a:t>act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>
                <a:solidFill>
                  <a:srgbClr val="000000"/>
                </a:solidFill>
              </a:rPr>
              <a:t>• Provides a privacy-preserving alternative to camera-based monitoring</a:t>
            </a:r>
            <a:endParaRPr b="0" sz="2800" u="none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>
                <a:solidFill>
                  <a:srgbClr val="000000"/>
                </a:solidFill>
              </a:rPr>
              <a:t>• Enables real-time fall detection without wearable dependency</a:t>
            </a:r>
            <a:endParaRPr b="0" sz="2800" u="none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>
                <a:solidFill>
                  <a:srgbClr val="000000"/>
                </a:solidFill>
              </a:rPr>
              <a:t>• Demonstrates integration of hardware sensing, ML inference, and cloud systems</a:t>
            </a:r>
            <a:endParaRPr b="0" sz="2800" u="none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>
                <a:solidFill>
                  <a:srgbClr val="000000"/>
                </a:solidFill>
              </a:rPr>
              <a:t>• Scalable for deployment in elder care, hospitals, and assisted living environments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>
                <a:solidFill>
                  <a:srgbClr val="000000"/>
                </a:solidFill>
                <a:highlight>
                  <a:srgbClr val="FFFFFF"/>
                </a:highlight>
              </a:rPr>
              <a:t>“MMWAVE-SDK Software Development Kit (SDK) | TI.com.” </a:t>
            </a:r>
            <a:endParaRPr b="0" sz="2800" u="none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b="0" i="1" lang="en-US" sz="2800" u="none">
                <a:solidFill>
                  <a:srgbClr val="000000"/>
                </a:solidFill>
                <a:highlight>
                  <a:srgbClr val="FFFFFF"/>
                </a:highlight>
              </a:rPr>
              <a:t>Ti.com</a:t>
            </a:r>
            <a:r>
              <a:rPr b="0" lang="en-US" sz="2800" u="none">
                <a:solidFill>
                  <a:srgbClr val="000000"/>
                </a:solidFill>
                <a:highlight>
                  <a:srgbClr val="FFFFFF"/>
                </a:highlight>
              </a:rPr>
              <a:t>, 2022, www.ti.com/tool/MMWAVE-SDK.</a:t>
            </a:r>
            <a:endParaRPr b="0" sz="2800" u="none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>
                <a:solidFill>
                  <a:srgbClr val="000000"/>
                </a:solidFill>
              </a:rPr>
              <a:t>Shao L, Shi Y, Xie XY, Wang Z, Wang ZA, Zhang JE. </a:t>
            </a:r>
            <a:endParaRPr b="0" sz="2800" u="none">
              <a:solidFill>
                <a:srgbClr val="000000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>
                <a:solidFill>
                  <a:srgbClr val="000000"/>
                </a:solidFill>
              </a:rPr>
              <a:t>Incidence and Risk Factors of Falls Among Older People</a:t>
            </a:r>
            <a:endParaRPr b="0" sz="2800" u="none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>
                <a:solidFill>
                  <a:srgbClr val="000000"/>
                </a:solidFill>
              </a:rPr>
              <a:t>in Nursing Homes: Systematic Review and Meta-Analysis. J Am Med Dir Assoc. 2023 Nov 24(11):1708-1717. doi: 10.1016/j.jamda.2023.06.002. Epub 2023 Jul 8. PMID:   37433427.</a:t>
            </a:r>
            <a:endParaRPr b="0" sz="2800" u="none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1" marL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</a:t>
            </a:r>
            <a:r>
              <a:rPr lang="en-US"/>
              <a:t>cknowledgments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>
                <a:solidFill>
                  <a:srgbClr val="000000"/>
                </a:solidFill>
              </a:rPr>
              <a:t>Special thanks to Dr. Arya Menon, Dr. John Lusher, Roman Venegas, and Manoj Kumar Balamurugan.</a:t>
            </a:r>
            <a:endParaRPr b="0" sz="2800" u="none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>
                <a:solidFill>
                  <a:srgbClr val="000000"/>
                </a:solidFill>
              </a:rPr>
              <a:t> </a:t>
            </a:r>
            <a:endParaRPr b="0" sz="2800" u="none">
              <a:solidFill>
                <a:srgbClr val="000000"/>
              </a:solidFill>
            </a:endParaRPr>
          </a:p>
        </p:txBody>
      </p:sp>
      <p:pic>
        <p:nvPicPr>
          <p:cNvPr id="36" name="Google Shape;36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8425" y="1923050"/>
            <a:ext cx="3866775" cy="359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1"/>
          <p:cNvPicPr preferRelativeResize="0"/>
          <p:nvPr/>
        </p:nvPicPr>
        <p:blipFill rotWithShape="1">
          <a:blip r:embed="rId4">
            <a:alphaModFix/>
          </a:blip>
          <a:srcRect b="0" l="20854" r="18507" t="0"/>
          <a:stretch/>
        </p:blipFill>
        <p:spPr>
          <a:xfrm>
            <a:off x="6708158" y="25125245"/>
            <a:ext cx="2530975" cy="5564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34778" y="556250"/>
            <a:ext cx="4041885" cy="4019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234938" y="20153751"/>
            <a:ext cx="10181199" cy="4971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0" name="Google Shape;40;p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423071" y="25416050"/>
            <a:ext cx="9278428" cy="5564650"/>
          </a:xfrm>
          <a:prstGeom prst="rect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1" name="Google Shape;41;p1" title="IMG_5580.jpg"/>
          <p:cNvPicPr preferRelativeResize="0"/>
          <p:nvPr/>
        </p:nvPicPr>
        <p:blipFill rotWithShape="1">
          <a:blip r:embed="rId8">
            <a:alphaModFix/>
          </a:blip>
          <a:srcRect b="19291" l="9149" r="10665" t="10202"/>
          <a:stretch/>
        </p:blipFill>
        <p:spPr>
          <a:xfrm>
            <a:off x="1231000" y="25226113"/>
            <a:ext cx="4574208" cy="5362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592838" y="12700917"/>
            <a:ext cx="8938100" cy="5362900"/>
          </a:xfrm>
          <a:prstGeom prst="rect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3" name="Google Shape;43;p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3592850" y="6590025"/>
            <a:ext cx="8938099" cy="6110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4" name="Google Shape;44;p1" title="Final System Diagram (2)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1252600" y="18944025"/>
            <a:ext cx="10485026" cy="8667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search Poster Template">
  <a:themeElements>
    <a:clrScheme name="Custom 2">
      <a:dk1>
        <a:srgbClr val="333333"/>
      </a:dk1>
      <a:lt1>
        <a:srgbClr val="FFFFFF"/>
      </a:lt1>
      <a:dk2>
        <a:srgbClr val="5D0025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2026-04-08T21:05:06Z</dcterms:created>
  <dc:creator>Lagoudas, Magdalini 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a-panorama-remediation-history">
    <vt:lpwstr>[{"isReadingOrderVerified":"true","pageNumber":0,"geomIndex":-1,"issueTypeId":"ReadingOrderIssue:PPTX","dismiss":false,"pageNumbers":[1],"coordinatesList":[[10.0,10.0,2.0,2.0]]},{"title":"Poster template for EPS","pageNumber":0,"geomIndex":-1,"issueTypeId":"MissingTitleIssue:PPTX","dismiss":false,"pageNumbers":[1],"coordinatesList":[[10.0,10.0,2.0,2.0]]}]</vt:lpwstr>
  </property>
  <property fmtid="{D5CDD505-2E9C-101B-9397-08002B2CF9AE}" pid="3" name="ReadingOrderVerifiedPages">
    <vt:lpwstr>1</vt:lpwstr>
  </property>
</Properties>
</file>