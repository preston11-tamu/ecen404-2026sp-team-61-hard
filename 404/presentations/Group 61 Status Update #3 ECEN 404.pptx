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OgQ9NWnt9bpl+Kjm2ECF30hBZ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E7B3C3-146A-4744-A5B8-F926323593E7}">
  <a:tblStyle styleId="{2AE7B3C3-146A-4744-A5B8-F926323593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0830b05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g3c0830b05e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0830b05ed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c0830b05e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0830b05e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g3c0830b05ed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0830b05ed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c0830b05e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0a8464808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c0a846480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0830b05e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g3c0830b05ed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0830b05ed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c0830b05e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9bd3975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9bd3975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457200" y="1536953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175610"/>
            <a:ext cx="1832900" cy="3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ctrTitle"/>
          </p:nvPr>
        </p:nvSpPr>
        <p:spPr>
          <a:xfrm>
            <a:off x="3969582" y="1597819"/>
            <a:ext cx="4488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subTitle"/>
          </p:nvPr>
        </p:nvSpPr>
        <p:spPr>
          <a:xfrm>
            <a:off x="3124200" y="2914650"/>
            <a:ext cx="53340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457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4648200" y="1481733"/>
            <a:ext cx="40386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57200" y="2175487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800226"/>
            <a:ext cx="3008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575050" y="805290"/>
            <a:ext cx="51117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1352888"/>
            <a:ext cx="30084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title"/>
          </p:nvPr>
        </p:nvSpPr>
        <p:spPr>
          <a:xfrm>
            <a:off x="457200" y="897323"/>
            <a:ext cx="2573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/>
          <p:nvPr>
            <p:ph idx="2" type="pic"/>
          </p:nvPr>
        </p:nvSpPr>
        <p:spPr>
          <a:xfrm>
            <a:off x="3200400" y="897322"/>
            <a:ext cx="5486400" cy="3637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457200" y="1326032"/>
            <a:ext cx="2573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ctrTitle"/>
          </p:nvPr>
        </p:nvSpPr>
        <p:spPr>
          <a:xfrm>
            <a:off x="1619250" y="2860969"/>
            <a:ext cx="7302600" cy="17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61: HARD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/>
              <a:t>Bi-Weekly Update 3</a:t>
            </a:r>
            <a:br>
              <a:rPr lang="en-US"/>
            </a:br>
            <a:r>
              <a:rPr lang="en-US" sz="2455"/>
              <a:t>William Jachimiak, Jean Jacques Chirat, 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Preston Bowyer, Aiden George 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Sponsor: Professor Arya Menon</a:t>
            </a:r>
            <a:endParaRPr sz="245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3"/>
              <a:buFont typeface="Arial"/>
              <a:buNone/>
            </a:pPr>
            <a:r>
              <a:rPr lang="en-US" sz="2455"/>
              <a:t>TA: Manoj Kumar Balamurugan</a:t>
            </a:r>
            <a:br>
              <a:rPr lang="en-US" sz="2455"/>
            </a:b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0"/>
            <a:ext cx="6111300" cy="45837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828989"/>
            <a:ext cx="2335650" cy="394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 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457200" y="1536956"/>
            <a:ext cx="4532100" cy="3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127000" lvl="0" marL="342900" rtl="0" algn="l">
              <a:spcBef>
                <a:spcPts val="640"/>
              </a:spcBef>
              <a:spcAft>
                <a:spcPts val="0"/>
              </a:spcAft>
              <a:buSzPct val="133333"/>
              <a:buChar char="•"/>
            </a:pPr>
            <a:r>
              <a:rPr lang="en-US"/>
              <a:t> </a:t>
            </a:r>
            <a:r>
              <a:rPr lang="en-US" sz="2400"/>
              <a:t>Our project seeks to solve the problem of monitoring fall injury prone individuals in assisted-care through the following implementation:</a:t>
            </a:r>
            <a:endParaRPr sz="24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Collection of vertical position &amp; velocity data (minimally invasive) using mmWave radar</a:t>
            </a:r>
            <a:endParaRPr sz="24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Stream the data to Raspberry Pi to be processed by ML detection algorithm</a:t>
            </a:r>
            <a:endParaRPr sz="24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Pi communicates positive detection result over WiFi network to Firebase cloud</a:t>
            </a:r>
            <a:endParaRPr sz="2400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400"/>
              <a:t>Firebase interfaces with Android app to notify assisted-care workers if fall event occurs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67" name="Google Shape;6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025" y="1536956"/>
            <a:ext cx="1838390" cy="1838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Project/Subsystem Overview </a:t>
            </a:r>
            <a:endParaRPr/>
          </a:p>
        </p:txBody>
      </p:sp>
      <p:pic>
        <p:nvPicPr>
          <p:cNvPr id="73" name="Google Shape;73;p4" title="Final System 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375" y="1389569"/>
            <a:ext cx="4841232" cy="341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79" name="Google Shape;79;p5"/>
          <p:cNvGraphicFramePr/>
          <p:nvPr/>
        </p:nvGraphicFramePr>
        <p:xfrm>
          <a:off x="230909" y="20901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{2AE7B3C3-146A-4744-A5B8-F926323593E7}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04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Subsystem Designs and Testing</a:t>
                      </a:r>
                      <a:endParaRPr sz="105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(completed </a:t>
                      </a:r>
                      <a:r>
                        <a:rPr lang="en-US" sz="975"/>
                        <a:t>02</a:t>
                      </a:r>
                      <a:r>
                        <a:rPr lang="en-US" sz="975" u="none" cap="none" strike="noStrike"/>
                        <a:t>/</a:t>
                      </a:r>
                      <a:r>
                        <a:rPr lang="en-US" sz="975"/>
                        <a:t>05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Integration of </a:t>
                      </a:r>
                      <a:r>
                        <a:rPr lang="en-US" sz="975"/>
                        <a:t>SBC</a:t>
                      </a:r>
                      <a:r>
                        <a:rPr lang="en-US" sz="975" u="none" cap="none" strike="noStrike"/>
                        <a:t> and ML (to complete</a:t>
                      </a:r>
                      <a:r>
                        <a:rPr lang="en-US" sz="975"/>
                        <a:t> by </a:t>
                      </a:r>
                      <a:r>
                        <a:rPr lang="en-US" sz="975" u="none" cap="none" strike="noStrike"/>
                        <a:t> </a:t>
                      </a:r>
                      <a:r>
                        <a:rPr lang="en-US" sz="975"/>
                        <a:t>02</a:t>
                      </a:r>
                      <a:r>
                        <a:rPr lang="en-US" sz="975" u="none" cap="none" strike="noStrike"/>
                        <a:t>/</a:t>
                      </a:r>
                      <a:r>
                        <a:rPr lang="en-US" sz="975"/>
                        <a:t>20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Integration of </a:t>
                      </a:r>
                      <a:r>
                        <a:rPr lang="en-US" sz="975"/>
                        <a:t>SBC and App (to complete </a:t>
                      </a:r>
                      <a:r>
                        <a:rPr lang="en-US" sz="975" u="none" cap="none" strike="noStrike"/>
                        <a:t>by </a:t>
                      </a:r>
                      <a:r>
                        <a:rPr lang="en-US" sz="975"/>
                        <a:t>02</a:t>
                      </a:r>
                      <a:r>
                        <a:rPr lang="en-US" sz="975" u="none" cap="none" strike="noStrike"/>
                        <a:t>/2</a:t>
                      </a:r>
                      <a:r>
                        <a:rPr lang="en-US" sz="975"/>
                        <a:t>0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D6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Final Integration 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03/05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System Test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03/26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Validation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04/02</a:t>
                      </a:r>
                      <a:r>
                        <a:rPr lang="en-US" sz="975" u="none" cap="none" strike="noStrike"/>
                        <a:t>)</a:t>
                      </a:r>
                      <a:endParaRPr sz="1050"/>
                    </a:p>
                  </a:txBody>
                  <a:tcPr marT="34250" marB="34250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u="none" cap="none" strike="noStrike"/>
                        <a:t>Demo and Report </a:t>
                      </a:r>
                      <a:br>
                        <a:rPr lang="en-US" sz="975" u="none" cap="none" strike="noStrike"/>
                      </a:br>
                      <a:r>
                        <a:rPr lang="en-US" sz="975" u="none" cap="none" strike="noStrike"/>
                        <a:t>(to complete by </a:t>
                      </a:r>
                      <a:r>
                        <a:rPr lang="en-US" sz="975"/>
                        <a:t>04/21</a:t>
                      </a:r>
                      <a:r>
                        <a:rPr lang="en-US" sz="975" u="none" cap="none" strike="noStrike"/>
                        <a:t>)</a:t>
                      </a:r>
                      <a:endParaRPr sz="975" u="none" cap="none" strike="noStrike"/>
                    </a:p>
                  </a:txBody>
                  <a:tcPr marT="34250" marB="34250" marR="91425" marL="91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>
            <p:ph type="title"/>
          </p:nvPr>
        </p:nvSpPr>
        <p:spPr>
          <a:xfrm>
            <a:off x="457200" y="68795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MCU/SBC</a:t>
            </a:r>
            <a:br>
              <a:rPr lang="en-US"/>
            </a:br>
            <a:r>
              <a:rPr lang="en-US" sz="1600"/>
              <a:t>William Jachimiak</a:t>
            </a:r>
            <a:endParaRPr/>
          </a:p>
        </p:txBody>
      </p:sp>
      <p:graphicFrame>
        <p:nvGraphicFramePr>
          <p:cNvPr id="85" name="Google Shape;85;p6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{2AE7B3C3-146A-4744-A5B8-F926323593E7}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                        </a:t>
                      </a:r>
                      <a:r>
                        <a:rPr lang="en-US" sz="1350">
                          <a:solidFill>
                            <a:srgbClr val="C20000"/>
                          </a:solidFill>
                        </a:rPr>
                        <a:t>10 hrs of effort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Finished integration with ML and App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Finished </a:t>
                      </a:r>
                      <a:r>
                        <a:rPr lang="en-US" sz="1350"/>
                        <a:t>verification</a:t>
                      </a:r>
                      <a:r>
                        <a:rPr lang="en-US" sz="1350"/>
                        <a:t> of data transfer to ML model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Develop a functional test plan and continue testing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Setting up the Raspberry Pi to run </a:t>
                      </a:r>
                      <a:r>
                        <a:rPr lang="en-US" sz="1350"/>
                        <a:t>automatically</a:t>
                      </a:r>
                      <a:r>
                        <a:rPr lang="en-US" sz="1350"/>
                        <a:t> on boot and if restarted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457200" y="7870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MCU/SBC</a:t>
            </a:r>
            <a:br>
              <a:rPr lang="en-US"/>
            </a:br>
            <a:r>
              <a:rPr lang="en-US" sz="1600"/>
              <a:t>William Jachimiak</a:t>
            </a:r>
            <a:endParaRPr/>
          </a:p>
        </p:txBody>
      </p:sp>
      <p:pic>
        <p:nvPicPr>
          <p:cNvPr id="91" name="Google Shape;91;p7" title="Fall Test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675" y="1790550"/>
            <a:ext cx="4966650" cy="281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830b05ed_0_0"/>
          <p:cNvSpPr txBox="1"/>
          <p:nvPr>
            <p:ph type="title"/>
          </p:nvPr>
        </p:nvSpPr>
        <p:spPr>
          <a:xfrm>
            <a:off x="457200" y="68035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</a:t>
            </a:r>
            <a:br>
              <a:rPr lang="en-US"/>
            </a:br>
            <a:r>
              <a:rPr lang="en-US" sz="1600"/>
              <a:t>Jean Jacques Chirat</a:t>
            </a:r>
            <a:endParaRPr/>
          </a:p>
        </p:txBody>
      </p:sp>
      <p:graphicFrame>
        <p:nvGraphicFramePr>
          <p:cNvPr id="97" name="Google Shape;97;g3c0830b05ed_0_0"/>
          <p:cNvGraphicFramePr/>
          <p:nvPr/>
        </p:nvGraphicFramePr>
        <p:xfrm>
          <a:off x="685800" y="1615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{2AE7B3C3-146A-4744-A5B8-F926323593E7}</a:tableStyleId>
              </a:tblPr>
              <a:tblGrid>
                <a:gridCol w="3886200"/>
                <a:gridCol w="3886200"/>
              </a:tblGrid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                        </a:t>
                      </a:r>
                      <a:r>
                        <a:rPr lang="en-US" sz="1350">
                          <a:solidFill>
                            <a:srgbClr val="C00000"/>
                          </a:solidFill>
                        </a:rPr>
                        <a:t>10</a:t>
                      </a:r>
                      <a:r>
                        <a:rPr lang="en-US" sz="135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598375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Added new confidence metric (ranges from 50% to 100%)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Added new isolation forest check to add extra layer of validation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Finished integrating with MCU</a:t>
                      </a:r>
                      <a:r>
                        <a:rPr lang="en-US" sz="1350"/>
                        <a:t> - system can now do active detection in real-time while sending alerts to user-end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Do rigorous testing of training edge cases as well as normal cases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Take note of failed test cases &amp; rework training methods/data processing to fill these gaps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-"/>
                      </a:pPr>
                      <a:r>
                        <a:rPr lang="en-US" sz="1350"/>
                        <a:t>Currently subsystem suffers from unforeseen problems with fast &amp; sudden motions, and some other setup issues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0830b05ed_0_6"/>
          <p:cNvSpPr txBox="1"/>
          <p:nvPr>
            <p:ph type="title"/>
          </p:nvPr>
        </p:nvSpPr>
        <p:spPr>
          <a:xfrm>
            <a:off x="457200" y="7870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Machine Learning</a:t>
            </a:r>
            <a:br>
              <a:rPr lang="en-US"/>
            </a:br>
            <a:r>
              <a:rPr lang="en-US" sz="1600"/>
              <a:t>Jean Jacques Chirat</a:t>
            </a:r>
            <a:endParaRPr/>
          </a:p>
        </p:txBody>
      </p:sp>
      <p:pic>
        <p:nvPicPr>
          <p:cNvPr id="103" name="Google Shape;103;g3c0830b05ed_0_6" title="Fall Testing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50" y="1908900"/>
            <a:ext cx="4977700" cy="2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0830b05ed_0_12"/>
          <p:cNvSpPr txBox="1"/>
          <p:nvPr>
            <p:ph type="title"/>
          </p:nvPr>
        </p:nvSpPr>
        <p:spPr>
          <a:xfrm>
            <a:off x="457200" y="6879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br>
              <a:rPr lang="en-US"/>
            </a:br>
            <a:r>
              <a:rPr lang="en-US" sz="1600"/>
              <a:t>Aiden George</a:t>
            </a:r>
            <a:endParaRPr/>
          </a:p>
        </p:txBody>
      </p:sp>
      <p:graphicFrame>
        <p:nvGraphicFramePr>
          <p:cNvPr id="109" name="Google Shape;109;g3c0830b05ed_0_12"/>
          <p:cNvGraphicFramePr/>
          <p:nvPr/>
        </p:nvGraphicFramePr>
        <p:xfrm>
          <a:off x="685800" y="14229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{2AE7B3C3-146A-4744-A5B8-F926323593E7}</a:tableStyleId>
              </a:tblPr>
              <a:tblGrid>
                <a:gridCol w="3886200"/>
                <a:gridCol w="3886200"/>
              </a:tblGrid>
              <a:tr h="8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                        </a:t>
                      </a:r>
                      <a:r>
                        <a:rPr lang="en-US" sz="1350">
                          <a:solidFill>
                            <a:srgbClr val="C00000"/>
                          </a:solidFill>
                        </a:rPr>
                        <a:t>25</a:t>
                      </a:r>
                      <a:r>
                        <a:rPr lang="en-US" sz="135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313075"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New Power Board Fully Soldered 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Initial</a:t>
                      </a:r>
                      <a:r>
                        <a:rPr lang="en-US" sz="1350"/>
                        <a:t> Testing </a:t>
                      </a:r>
                      <a:r>
                        <a:rPr lang="en-US" sz="1350"/>
                        <a:t>Began</a:t>
                      </a:r>
                      <a:r>
                        <a:rPr lang="en-US" sz="1350"/>
                        <a:t>, with voltage regulator shown to work at ideal voltage</a:t>
                      </a:r>
                      <a:endParaRPr sz="135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Voltage </a:t>
                      </a:r>
                      <a:r>
                        <a:rPr lang="en-US" sz="1350"/>
                        <a:t>Regulator</a:t>
                      </a:r>
                      <a:r>
                        <a:rPr lang="en-US" sz="1350"/>
                        <a:t> caught fire during testing of different voltages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Resoldering needs to be completed and validation finalized</a:t>
                      </a:r>
                      <a:endParaRPr sz="1350"/>
                    </a:p>
                    <a:p>
                      <a:pPr indent="-314325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50"/>
                        <a:buChar char="●"/>
                      </a:pPr>
                      <a:r>
                        <a:rPr lang="en-US" sz="1350"/>
                        <a:t>Full system integration will be completed by next review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0830b05ed_0_18"/>
          <p:cNvSpPr txBox="1"/>
          <p:nvPr>
            <p:ph type="title"/>
          </p:nvPr>
        </p:nvSpPr>
        <p:spPr>
          <a:xfrm>
            <a:off x="457200" y="7870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br>
              <a:rPr lang="en-US"/>
            </a:br>
            <a:r>
              <a:rPr lang="en-US" sz="1600"/>
              <a:t>Aiden George</a:t>
            </a:r>
            <a:endParaRPr/>
          </a:p>
        </p:txBody>
      </p:sp>
      <p:pic>
        <p:nvPicPr>
          <p:cNvPr id="115" name="Google Shape;115;g3c0830b05ed_0_18" title="Screenshot 2026-02-25 021627.png"/>
          <p:cNvPicPr preferRelativeResize="0"/>
          <p:nvPr/>
        </p:nvPicPr>
        <p:blipFill rotWithShape="1">
          <a:blip r:embed="rId3">
            <a:alphaModFix/>
          </a:blip>
          <a:srcRect b="0" l="0" r="28218" t="0"/>
          <a:stretch/>
        </p:blipFill>
        <p:spPr>
          <a:xfrm>
            <a:off x="709300" y="2060488"/>
            <a:ext cx="3109502" cy="22668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g3c0830b05ed_0_18" title="IMG_3907.jpeg"/>
          <p:cNvPicPr preferRelativeResize="0"/>
          <p:nvPr/>
        </p:nvPicPr>
        <p:blipFill rotWithShape="1">
          <a:blip r:embed="rId4">
            <a:alphaModFix/>
          </a:blip>
          <a:srcRect b="20729" l="15344" r="22886" t="16112"/>
          <a:stretch/>
        </p:blipFill>
        <p:spPr>
          <a:xfrm rot="-5400000">
            <a:off x="5414276" y="1636730"/>
            <a:ext cx="2293402" cy="31267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g3c0830b05ed_0_18"/>
          <p:cNvSpPr txBox="1"/>
          <p:nvPr/>
        </p:nvSpPr>
        <p:spPr>
          <a:xfrm>
            <a:off x="655600" y="4422475"/>
            <a:ext cx="32169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Voltage Regulator Response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8" name="Google Shape;118;g3c0830b05ed_0_18"/>
          <p:cNvSpPr txBox="1"/>
          <p:nvPr/>
        </p:nvSpPr>
        <p:spPr>
          <a:xfrm>
            <a:off x="4787525" y="4411675"/>
            <a:ext cx="354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Full Board Layout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0a8464808_0_7"/>
          <p:cNvSpPr txBox="1"/>
          <p:nvPr>
            <p:ph type="title"/>
          </p:nvPr>
        </p:nvSpPr>
        <p:spPr>
          <a:xfrm>
            <a:off x="457200" y="780480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</a:t>
            </a:r>
            <a:br>
              <a:rPr lang="en-US"/>
            </a:br>
            <a:r>
              <a:rPr lang="en-US" sz="1600"/>
              <a:t>Aiden George</a:t>
            </a:r>
            <a:endParaRPr/>
          </a:p>
        </p:txBody>
      </p:sp>
      <p:pic>
        <p:nvPicPr>
          <p:cNvPr id="124" name="Google Shape;124;g3c0a8464808_0_7" title="IMG_390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239063" y="1558189"/>
            <a:ext cx="2472476" cy="3296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" name="Google Shape;125;g3c0a8464808_0_7"/>
          <p:cNvSpPr txBox="1"/>
          <p:nvPr/>
        </p:nvSpPr>
        <p:spPr>
          <a:xfrm>
            <a:off x="2831400" y="4579850"/>
            <a:ext cx="3481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Damaged Voltage Regulator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6" name="Google Shape;126;g3c0a8464808_0_7"/>
          <p:cNvSpPr/>
          <p:nvPr/>
        </p:nvSpPr>
        <p:spPr>
          <a:xfrm>
            <a:off x="3980150" y="3194150"/>
            <a:ext cx="468000" cy="4926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0830b05ed_0_24"/>
          <p:cNvSpPr txBox="1"/>
          <p:nvPr>
            <p:ph type="title"/>
          </p:nvPr>
        </p:nvSpPr>
        <p:spPr>
          <a:xfrm>
            <a:off x="457200" y="687958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End User App</a:t>
            </a:r>
            <a:br>
              <a:rPr lang="en-US"/>
            </a:br>
            <a:r>
              <a:rPr lang="en-US" sz="1600"/>
              <a:t>Preston Bowyer</a:t>
            </a:r>
            <a:endParaRPr/>
          </a:p>
        </p:txBody>
      </p:sp>
      <p:graphicFrame>
        <p:nvGraphicFramePr>
          <p:cNvPr id="132" name="Google Shape;132;g3c0830b05ed_0_24"/>
          <p:cNvGraphicFramePr/>
          <p:nvPr/>
        </p:nvGraphicFramePr>
        <p:xfrm>
          <a:off x="685800" y="1464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{2AE7B3C3-146A-4744-A5B8-F926323593E7}</a:tableStyleId>
              </a:tblPr>
              <a:tblGrid>
                <a:gridCol w="3886200"/>
                <a:gridCol w="3886200"/>
              </a:tblGrid>
              <a:tr h="4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Accomplishments since last update                          </a:t>
                      </a:r>
                      <a:r>
                        <a:rPr lang="en-US" sz="1350">
                          <a:solidFill>
                            <a:srgbClr val="C00000"/>
                          </a:solidFill>
                        </a:rPr>
                        <a:t>13</a:t>
                      </a:r>
                      <a:r>
                        <a:rPr lang="en-US" sz="135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35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Ongoing progress/problems and plans until the next presentation</a:t>
                      </a:r>
                      <a:endParaRPr sz="1350" u="none" cap="none" strike="noStrike"/>
                    </a:p>
                  </a:txBody>
                  <a:tcPr marT="34325" marB="343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30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-Integrated MCU fall signal with Pi WiFi publishing module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-Verified correct payload structure (type, room, confidence)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-MCU triggers fall, Pi publishes alert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-Firestore document created successfully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-Push notification delivered to end-user phone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-Diagnosed and fixed malformed payload causing 400 errors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-Implement system service for boot-time startup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-Transition to secure environment-based credentials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-Validate serial device readiness at boot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-Repeated end-to-end alert validation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-Test WiFi interruption &amp; recovery behavior</a:t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/>
                        <a:t>-Evaluate duplicate alert handling</a:t>
                      </a:r>
                      <a:endParaRPr sz="1350"/>
                    </a:p>
                  </a:txBody>
                  <a:tcPr marT="34325" marB="343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0830b05ed_0_30"/>
          <p:cNvSpPr txBox="1"/>
          <p:nvPr>
            <p:ph type="title"/>
          </p:nvPr>
        </p:nvSpPr>
        <p:spPr>
          <a:xfrm>
            <a:off x="457200" y="787004"/>
            <a:ext cx="82296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End User App</a:t>
            </a:r>
            <a:br>
              <a:rPr lang="en-US"/>
            </a:br>
            <a:r>
              <a:rPr lang="en-US" sz="1600"/>
              <a:t>Preston Bowyer</a:t>
            </a:r>
            <a:endParaRPr/>
          </a:p>
        </p:txBody>
      </p:sp>
      <p:pic>
        <p:nvPicPr>
          <p:cNvPr id="138" name="Google Shape;138;g3c0830b05ed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600" y="2500675"/>
            <a:ext cx="3526500" cy="19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c0830b05ed_0_30" title="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375" y="2168500"/>
            <a:ext cx="1431251" cy="294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c0830b05ed_0_30" title="3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451" y="2168500"/>
            <a:ext cx="1431259" cy="294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c0830b05ed_0_30" title="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0413" y="2168501"/>
            <a:ext cx="1431251" cy="294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47" name="Google Shape;147;p8" title="validation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650" y="1436350"/>
            <a:ext cx="6680700" cy="35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idx="4294967295" type="title"/>
          </p:nvPr>
        </p:nvSpPr>
        <p:spPr>
          <a:xfrm>
            <a:off x="457200" y="1206104"/>
            <a:ext cx="8229600" cy="30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sz="32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Thank you!</a:t>
            </a:r>
            <a:endParaRPr b="1" sz="32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Questions?</a:t>
            </a:r>
            <a:endParaRPr b="1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09bd3975d_0_2"/>
          <p:cNvSpPr txBox="1"/>
          <p:nvPr>
            <p:ph type="title"/>
          </p:nvPr>
        </p:nvSpPr>
        <p:spPr>
          <a:xfrm>
            <a:off x="457200" y="786883"/>
            <a:ext cx="822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58" name="Google Shape;158;g3c09bd3975d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350" y="1514008"/>
            <a:ext cx="5339312" cy="3449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5,8</vt:lpwstr>
  </property>
</Properties>
</file>