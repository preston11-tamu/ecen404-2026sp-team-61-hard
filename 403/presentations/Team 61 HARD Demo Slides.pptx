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C1214B-709A-4202-B7B4-74567F010F7D}">
  <a:tblStyle styleId="{D0C1214B-709A-4202-B7B4-74567F010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25e6071f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25e6071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2a9107a5b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2a9107a5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c8d791453_1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c8d791453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29adb11f7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29adb11f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29adb11f7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29adb11f7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2a9107a5b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2a9107a5b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25e6071f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25e6071f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c82488f4b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c82488f4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2a9107a5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2a9107a5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2a9107a5b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2a9107a5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ca9645e49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ca9645e4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2a9107a5b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2a9107a5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969582" y="2130425"/>
            <a:ext cx="4488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24200" y="3886200"/>
            <a:ext cx="5334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3" name="Google Shape;2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4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" type="body"/>
          </p:nvPr>
        </p:nvSpPr>
        <p:spPr>
          <a:xfrm>
            <a:off x="457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4648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1066968"/>
            <a:ext cx="30084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3575050" y="1073720"/>
            <a:ext cx="5111700" cy="50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1803850"/>
            <a:ext cx="3008400" cy="4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457200" y="1196430"/>
            <a:ext cx="2573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/>
          <p:nvPr>
            <p:ph idx="2" type="pic"/>
          </p:nvPr>
        </p:nvSpPr>
        <p:spPr>
          <a:xfrm>
            <a:off x="3200400" y="1196430"/>
            <a:ext cx="5486400" cy="48504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768043"/>
            <a:ext cx="25737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ctrTitle"/>
          </p:nvPr>
        </p:nvSpPr>
        <p:spPr>
          <a:xfrm>
            <a:off x="1619250" y="4244975"/>
            <a:ext cx="7302600" cy="22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/>
              <a:t>ECEN 403 Demo Slides</a:t>
            </a:r>
            <a:br>
              <a:rPr lang="en-US"/>
            </a:br>
            <a:r>
              <a:rPr lang="en-US"/>
              <a:t>Team 61 HARD</a:t>
            </a:r>
            <a:br>
              <a:rPr lang="en-US"/>
            </a:br>
            <a:r>
              <a:rPr lang="en-US"/>
              <a:t>William Jachimiak, Jean Jacques Chirat, Preston Bowyer, Aiden George</a:t>
            </a:r>
            <a:br>
              <a:rPr lang="en-US"/>
            </a:br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0" y="0"/>
            <a:ext cx="6111300" cy="61113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Problem Overview</a:t>
            </a:r>
            <a:endParaRPr/>
          </a:p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457200" y="1852925"/>
            <a:ext cx="8229600" cy="48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 </a:t>
            </a:r>
            <a:r>
              <a:rPr lang="en-US" sz="2400"/>
              <a:t>Our project seeks to solve the problem of monitoring fall injury prone individuals in assisted-care through the following implementation:</a:t>
            </a:r>
            <a:endParaRPr sz="2400"/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Collection of vertical position &amp; velocity data (minimally invasive) using mmWave radar</a:t>
            </a:r>
            <a:endParaRPr sz="2400"/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Stream the data to Raspberry Pi to be processed by ML detection algorithm</a:t>
            </a:r>
            <a:endParaRPr sz="2400"/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Raspberry Pi communicates positive detection result over WiFi network to Firebase</a:t>
            </a:r>
            <a:endParaRPr sz="2400"/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-US" sz="2400"/>
              <a:t>Firebase interfaces with Android app to notify assisted-care workers if fall event occurs</a:t>
            </a:r>
            <a:endParaRPr sz="2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Overview (System Diagram)</a:t>
            </a:r>
            <a:endParaRPr/>
          </a:p>
        </p:txBody>
      </p:sp>
      <p:pic>
        <p:nvPicPr>
          <p:cNvPr id="68" name="Google Shape;68;p10" title="Final System Diagra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0425" y="1386475"/>
            <a:ext cx="7762075" cy="5471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MCU Subsystem</a:t>
            </a:r>
            <a:endParaRPr/>
          </a:p>
        </p:txBody>
      </p:sp>
      <p:pic>
        <p:nvPicPr>
          <p:cNvPr id="74" name="Google Shape;74;p11" title="CFG Set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213" y="1799975"/>
            <a:ext cx="7503576" cy="169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 title="output dat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8025" y="3429000"/>
            <a:ext cx="6147972" cy="2766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MCU Subsystem</a:t>
            </a:r>
            <a:endParaRPr/>
          </a:p>
        </p:txBody>
      </p:sp>
      <p:pic>
        <p:nvPicPr>
          <p:cNvPr id="81" name="Google Shape;81;p12" title="json alert.png"/>
          <p:cNvPicPr preferRelativeResize="0"/>
          <p:nvPr/>
        </p:nvPicPr>
        <p:blipFill rotWithShape="1">
          <a:blip r:embed="rId3">
            <a:alphaModFix/>
          </a:blip>
          <a:srcRect b="0" l="0" r="49354" t="0"/>
          <a:stretch/>
        </p:blipFill>
        <p:spPr>
          <a:xfrm>
            <a:off x="1645600" y="1852875"/>
            <a:ext cx="5852799" cy="454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Power System</a:t>
            </a:r>
            <a:endParaRPr/>
          </a:p>
        </p:txBody>
      </p:sp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457200" y="2049275"/>
            <a:ext cx="3855300" cy="4637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36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Provides power both to ESP-32 and Ti Radar Unit using buck converter ICs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Power is stepped down from two Li-</a:t>
            </a:r>
            <a:r>
              <a:rPr lang="en-US" sz="2000"/>
              <a:t>Ion</a:t>
            </a:r>
            <a:r>
              <a:rPr lang="en-US" sz="2000"/>
              <a:t> 3.6V batteries in series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Battery is charged from a wall mounted 12V AC/DC converted paired with a BQ24600 charging IC to deliver 6A to the battery pack</a:t>
            </a:r>
            <a:endParaRPr sz="2000"/>
          </a:p>
        </p:txBody>
      </p:sp>
      <p:pic>
        <p:nvPicPr>
          <p:cNvPr id="88" name="Google Shape;88;p13" title="Untitled drawing (2).png"/>
          <p:cNvPicPr preferRelativeResize="0"/>
          <p:nvPr/>
        </p:nvPicPr>
        <p:blipFill rotWithShape="1">
          <a:blip r:embed="rId3">
            <a:alphaModFix/>
          </a:blip>
          <a:srcRect b="53837" l="6645" r="9342" t="5789"/>
          <a:stretch/>
        </p:blipFill>
        <p:spPr>
          <a:xfrm>
            <a:off x="4312500" y="1773125"/>
            <a:ext cx="4705375" cy="169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Power Schemati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8700" y="3555625"/>
            <a:ext cx="4314449" cy="324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457200" y="977602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Power Supply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457200" y="1878600"/>
            <a:ext cx="46011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81000" lvl="0" marL="457200" rtl="0" algn="l">
              <a:spcBef>
                <a:spcPts val="3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 power system PCB was finalized and ordered, based on design criteria found from Ti Data.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Additional simulation done in PSpice to verify design </a:t>
            </a:r>
            <a:r>
              <a:rPr lang="en-US" sz="2400"/>
              <a:t>functionality</a:t>
            </a:r>
            <a:r>
              <a:rPr lang="en-US" sz="2400"/>
              <a:t> based on Webench Recommendations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All IC Components have been </a:t>
            </a:r>
            <a:r>
              <a:rPr lang="en-US" sz="2400"/>
              <a:t>received, awaiting PCB to begin validation of power system design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96" name="Google Shape;96;p14" title="Screenshot 2025-11-12 092211.png"/>
          <p:cNvPicPr preferRelativeResize="0"/>
          <p:nvPr/>
        </p:nvPicPr>
        <p:blipFill rotWithShape="1">
          <a:blip r:embed="rId3">
            <a:alphaModFix/>
          </a:blip>
          <a:srcRect b="22113" l="3382" r="0" t="-1058"/>
          <a:stretch/>
        </p:blipFill>
        <p:spPr>
          <a:xfrm>
            <a:off x="5210700" y="1781300"/>
            <a:ext cx="2850075" cy="2225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title="Screenshot 2025-11-12 09270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0700" y="4061349"/>
            <a:ext cx="3780899" cy="2598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Power Supply PCB </a:t>
            </a:r>
            <a:endParaRPr/>
          </a:p>
        </p:txBody>
      </p:sp>
      <p:pic>
        <p:nvPicPr>
          <p:cNvPr id="103" name="Google Shape;103;p15" title="Screenshot 2025-11-12 054110.png"/>
          <p:cNvPicPr preferRelativeResize="0"/>
          <p:nvPr/>
        </p:nvPicPr>
        <p:blipFill rotWithShape="1">
          <a:blip r:embed="rId3">
            <a:alphaModFix/>
          </a:blip>
          <a:srcRect b="0" l="0" r="37601" t="0"/>
          <a:stretch/>
        </p:blipFill>
        <p:spPr>
          <a:xfrm>
            <a:off x="3091629" y="2139025"/>
            <a:ext cx="3212202" cy="3882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Machine Learning Subsystem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340500" y="6247250"/>
            <a:ext cx="30672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Terminal output for training result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3889888" y="6067700"/>
            <a:ext cx="41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Training + validation loss function over 40- epochs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025" y="1894462"/>
            <a:ext cx="2655750" cy="431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5584" r="6333" t="0"/>
          <a:stretch/>
        </p:blipFill>
        <p:spPr>
          <a:xfrm>
            <a:off x="3183558" y="2148575"/>
            <a:ext cx="5583280" cy="3802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457200" y="836975"/>
            <a:ext cx="8229600" cy="804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Machine Learning Validation Plan</a:t>
            </a:r>
            <a:endParaRPr/>
          </a:p>
        </p:txBody>
      </p:sp>
      <p:graphicFrame>
        <p:nvGraphicFramePr>
          <p:cNvPr id="118" name="Google Shape;118;p17"/>
          <p:cNvGraphicFramePr/>
          <p:nvPr/>
        </p:nvGraphicFramePr>
        <p:xfrm>
          <a:off x="263713" y="1703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{D0C1214B-709A-4202-B7B4-74567F010F7D}</a:tableStyleId>
              </a:tblPr>
              <a:tblGrid>
                <a:gridCol w="1282525"/>
                <a:gridCol w="3559400"/>
                <a:gridCol w="1062850"/>
                <a:gridCol w="1411425"/>
                <a:gridCol w="1300375"/>
              </a:tblGrid>
              <a:tr h="37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Validation Criteria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Definition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Margin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Progress (as of latest model)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Status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4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False Positive Rate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 non-fall event which is classified as a fall event as a ratio of all non-fall cases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&lt; 5%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2.99%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Achieved</a:t>
                      </a:r>
                      <a:endParaRPr sz="1000"/>
                    </a:p>
                  </a:txBody>
                  <a:tcPr marT="19050" marB="19050" marR="28575" marL="28575" anchor="ctr"/>
                </a:tc>
              </a:tr>
              <a:tr h="44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False Negative Rate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 fall event which is classified as a non-fall event as a ratio of all fall cases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&lt; 5%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2.56</a:t>
                      </a:r>
                      <a:r>
                        <a:rPr lang="en-US" sz="1000"/>
                        <a:t>%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Achieved</a:t>
                      </a:r>
                      <a:endParaRPr sz="1000"/>
                    </a:p>
                  </a:txBody>
                  <a:tcPr marT="19050" marB="19050" marR="28575" marL="28575" anchor="ctr"/>
                </a:tc>
              </a:tr>
              <a:tr h="37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Train &amp; Test</a:t>
                      </a:r>
                      <a:endParaRPr sz="1000"/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Dataset Size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The combined number of datasets used for model training and datasets for model simulation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&gt; 200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164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 progress</a:t>
                      </a:r>
                      <a:endParaRPr sz="1000"/>
                    </a:p>
                  </a:txBody>
                  <a:tcPr marT="19050" marB="19050" marR="28575" marL="28575" anchor="ctr"/>
                </a:tc>
              </a:tr>
              <a:tr h="37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Fall Positive Dataset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Number of datasets which serve as ground truth for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falling scenario or '1'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&gt; 80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60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 progress</a:t>
                      </a:r>
                      <a:endParaRPr sz="1000"/>
                    </a:p>
                  </a:txBody>
                  <a:tcPr marT="19050" marB="19050" marR="28575" marL="28575" anchor="ctr"/>
                </a:tc>
              </a:tr>
              <a:tr h="379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Fall Negative Dataset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Number of datasets which serve as ground truth for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non-falling scenario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&gt; 120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104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 progress</a:t>
                      </a:r>
                      <a:endParaRPr sz="1000"/>
                    </a:p>
                  </a:txBody>
                  <a:tcPr marT="19050" marB="19050" marR="28575" marL="28575" anchor="ctr"/>
                </a:tc>
              </a:tr>
              <a:tr h="37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Edge case handling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Model must account for motion patterns that do not conform to majority of fall or non-fall patterns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At least 33% of non-fall data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20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 progress</a:t>
                      </a:r>
                      <a:endParaRPr sz="1000"/>
                    </a:p>
                  </a:txBody>
                  <a:tcPr marT="19050" marB="19050" marR="28575" marL="28575" anchor="ctr"/>
                </a:tc>
              </a:tr>
              <a:tr h="37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Confuser Rejection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Combined total of false positive and false negative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classifications as a ratio of total test cases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&lt; 3%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2.83</a:t>
                      </a:r>
                      <a:r>
                        <a:rPr lang="en-US" sz="1000"/>
                        <a:t>%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Achieved</a:t>
                      </a:r>
                      <a:endParaRPr sz="1000"/>
                    </a:p>
                  </a:txBody>
                  <a:tcPr marT="19050" marB="19050" marR="28575" marL="28575" anchor="ctr"/>
                </a:tc>
              </a:tr>
              <a:tr h="37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Noise handling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Model must account for noise that may be present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 real-life residences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N/A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Added Gaussian noise of magnitude 0.1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Achieved</a:t>
                      </a:r>
                      <a:endParaRPr sz="1000"/>
                    </a:p>
                  </a:txBody>
                  <a:tcPr marT="19050" marB="19050" marR="28575" marL="28575" anchor="ctr"/>
                </a:tc>
              </a:tr>
              <a:tr h="379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Detection delay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Model must be able to completely process any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falling motion data within a reliable timeframe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&lt; 10 s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TBD in integration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N/A</a:t>
                      </a:r>
                      <a:endParaRPr sz="1000"/>
                    </a:p>
                  </a:txBody>
                  <a:tcPr marT="19050" marB="19050" marR="28575" marL="28575" anchor="ctr"/>
                </a:tc>
              </a:tr>
              <a:tr h="915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Computation Speed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Real-time d</a:t>
                      </a:r>
                      <a:r>
                        <a:rPr lang="en-US" sz="1000"/>
                        <a:t>ata must be converted to .json, preprocessed, and classified before the processing of the following data batch. A standard data batch will be 160 frames, so a dataset of this length will be used to set the benchmark.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&lt; 8 s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0.313 s</a:t>
                      </a:r>
                      <a:endParaRPr sz="1000"/>
                    </a:p>
                  </a:txBody>
                  <a:tcPr marT="19050" marB="19050" marR="28575" marL="2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Achieved</a:t>
                      </a:r>
                      <a:endParaRPr sz="1000"/>
                    </a:p>
                  </a:txBody>
                  <a:tcPr marT="19050" marB="19050" marR="28575" marL="2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User App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457200" y="18528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592"/>
              <a:t>Core Features</a:t>
            </a:r>
            <a:endParaRPr b="1" sz="1592"/>
          </a:p>
          <a:p>
            <a:pPr indent="-31698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92"/>
              <a:buChar char="●"/>
            </a:pPr>
            <a:r>
              <a:rPr b="1" lang="en-US" sz="1392"/>
              <a:t>User Authentication:</a:t>
            </a:r>
            <a:r>
              <a:rPr lang="en-US" sz="1392"/>
              <a:t> Secure login via Firebase Auth</a:t>
            </a:r>
            <a:br>
              <a:rPr lang="en-US" sz="1392"/>
            </a:br>
            <a:endParaRPr sz="1392"/>
          </a:p>
          <a:p>
            <a:pPr indent="-3169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92"/>
              <a:buChar char="●"/>
            </a:pPr>
            <a:r>
              <a:rPr b="1" lang="en-US" sz="1392"/>
              <a:t>Real-Time Alerts:</a:t>
            </a:r>
            <a:r>
              <a:rPr lang="en-US" sz="1392"/>
              <a:t> Firestore live stream; room, time, and details shown immediately</a:t>
            </a:r>
            <a:br>
              <a:rPr lang="en-US" sz="1392"/>
            </a:br>
            <a:endParaRPr sz="1392"/>
          </a:p>
          <a:p>
            <a:pPr indent="-3169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92"/>
              <a:buChar char="●"/>
            </a:pPr>
            <a:r>
              <a:rPr b="1" lang="en-US" sz="1392"/>
              <a:t>Acknowledge Workflow:</a:t>
            </a:r>
            <a:r>
              <a:rPr lang="en-US" sz="1392"/>
              <a:t> Updates Firestore with acknowledgedBy + timestamp</a:t>
            </a:r>
            <a:br>
              <a:rPr lang="en-US" sz="1392"/>
            </a:br>
            <a:endParaRPr sz="1392"/>
          </a:p>
          <a:p>
            <a:pPr indent="-3169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92"/>
              <a:buChar char="●"/>
            </a:pPr>
            <a:r>
              <a:rPr b="1" lang="en-US" sz="1392"/>
              <a:t>Push Notifications:</a:t>
            </a:r>
            <a:r>
              <a:rPr lang="en-US" sz="1392"/>
              <a:t> FCM alerts routed to the phone; tapping opens correct alert</a:t>
            </a:r>
            <a:br>
              <a:rPr lang="en-US" sz="1392"/>
            </a:br>
            <a:endParaRPr sz="1392"/>
          </a:p>
          <a:p>
            <a:pPr indent="-3169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92"/>
              <a:buChar char="●"/>
            </a:pPr>
            <a:r>
              <a:rPr b="1" lang="en-US" sz="1392"/>
              <a:t>Logistics Dashboard:</a:t>
            </a:r>
            <a:r>
              <a:rPr lang="en-US" sz="1392"/>
              <a:t> Room-based activity overview with bar chart analytics</a:t>
            </a:r>
            <a:br>
              <a:rPr lang="en-US" sz="1392"/>
            </a:br>
            <a:endParaRPr sz="1392"/>
          </a:p>
          <a:p>
            <a:pPr indent="-3169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92"/>
              <a:buChar char="●"/>
            </a:pPr>
            <a:r>
              <a:rPr b="1" lang="en-US" sz="1392"/>
              <a:t>Clean UI:</a:t>
            </a:r>
            <a:r>
              <a:rPr lang="en-US" sz="1392"/>
              <a:t> Unacknowledged / Acknowledged / Logistics / Settings tabs with alert badges</a:t>
            </a:r>
            <a:br>
              <a:rPr lang="en-US" sz="1392"/>
            </a:br>
            <a:endParaRPr sz="1392"/>
          </a:p>
          <a:p>
            <a:pPr indent="-3169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92"/>
              <a:buChar char="●"/>
            </a:pPr>
            <a:r>
              <a:rPr b="1" lang="en-US" sz="1392"/>
              <a:t>Cloud Integration:</a:t>
            </a:r>
            <a:r>
              <a:rPr lang="en-US" sz="1392"/>
              <a:t> All data stored, queried, and updated through Firestore</a:t>
            </a:r>
            <a:br>
              <a:rPr lang="en-US" sz="1392"/>
            </a:br>
            <a:endParaRPr sz="1392"/>
          </a:p>
          <a:p>
            <a:pPr indent="-3169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92"/>
              <a:buChar char="●"/>
            </a:pPr>
            <a:r>
              <a:rPr b="1" lang="en-US" sz="1392"/>
              <a:t>ESP32 Simulation:</a:t>
            </a:r>
            <a:r>
              <a:rPr lang="en-US" sz="1392"/>
              <a:t> Python script generates alerts + FCM notifications for demo/testing</a:t>
            </a:r>
            <a:endParaRPr b="1" sz="575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User App</a:t>
            </a:r>
            <a:endParaRPr/>
          </a:p>
        </p:txBody>
      </p:sp>
      <p:pic>
        <p:nvPicPr>
          <p:cNvPr id="130" name="Google Shape;130;p19" title="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9638" y="1852877"/>
            <a:ext cx="2286645" cy="47003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" name="Google Shape;131;p19" title="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8683" y="1852877"/>
            <a:ext cx="2286645" cy="47003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" name="Google Shape;132;p19" title="3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7728" y="1852877"/>
            <a:ext cx="2286645" cy="47003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End User App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0" title="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05277"/>
            <a:ext cx="2286645" cy="47003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9" name="Google Shape;139;p20" title="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645" y="2005277"/>
            <a:ext cx="2286645" cy="47003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0" name="Google Shape;140;p20" title="3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990" y="2005277"/>
            <a:ext cx="2286645" cy="47003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1" name="Google Shape;141;p20" title="3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58621" y="2005265"/>
            <a:ext cx="2286649" cy="470033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Validation Plan</a:t>
            </a:r>
            <a:endParaRPr/>
          </a:p>
        </p:txBody>
      </p:sp>
      <p:graphicFrame>
        <p:nvGraphicFramePr>
          <p:cNvPr id="147" name="Google Shape;147;p21"/>
          <p:cNvGraphicFramePr/>
          <p:nvPr/>
        </p:nvGraphicFramePr>
        <p:xfrm>
          <a:off x="714375" y="200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{D0C1214B-709A-4202-B7B4-74567F010F7D}</a:tableStyleId>
              </a:tblPr>
              <a:tblGrid>
                <a:gridCol w="2571750"/>
                <a:gridCol w="2571750"/>
                <a:gridCol w="2571750"/>
              </a:tblGrid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Task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Specification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Owner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Peak Power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10 W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Aiden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Maximum Charger Current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6A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Aiden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Maximum Battery Life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10 hr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Aiden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Radar Detect Distance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8m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All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Detection False Positive Rate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≤ 5%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JJ/William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Detection False Negative Rate 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≤ 5%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JJ/William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Push Notification delivery success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≥ 99%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Preston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4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Notification time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~ 5 seconds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/>
                        <a:t>Preston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