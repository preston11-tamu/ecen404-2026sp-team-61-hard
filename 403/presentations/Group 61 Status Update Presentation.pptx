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y2PrvRaTkC6oqk8AmKctW3NZ+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62CD9-A32F-471F-BB4C-80B3ACD8DCD5}">
  <a:tblStyle styleId="{15B62CD9-A32F-471F-BB4C-80B3ACD8DC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A8332D9-F006-477A-B4F3-9AB9D2009C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bf8ac91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6" name="Google Shape;116;g39bf8ac91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f8ac91ae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bf8ac91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f8ac91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g39bf8ac91ae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bf8ac91ae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bf8ac91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bf8ac91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9" name="Google Shape;149;g39bf8ac91ae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f8ac91ae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bf8ac91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761067"/>
            <a:ext cx="10972800" cy="47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850"/>
            <a:ext cx="3236655" cy="5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197600" y="1761067"/>
            <a:ext cx="5384800" cy="4733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09600" y="1761067"/>
            <a:ext cx="5384800" cy="47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4267200" y="1196431"/>
            <a:ext cx="7315200" cy="529825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768044"/>
            <a:ext cx="3431563" cy="47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576247" y="1755088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ECEN 403</a:t>
            </a:r>
            <a:br>
              <a:rPr lang="en-US"/>
            </a:br>
            <a:r>
              <a:rPr lang="en-US"/>
              <a:t>Status Update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1655" y="796285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5528600" y="3510863"/>
            <a:ext cx="65364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Team 61: HARD </a:t>
            </a:r>
            <a:br>
              <a:rPr lang="en-US"/>
            </a:br>
            <a:r>
              <a:rPr lang="en-US"/>
              <a:t>William Jachimiak, Jean Jacques Chirat, Preston Bowyer, Aiden George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TA: Roman Venegas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Sponsor: Professor Arya Menon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Project Summary </a:t>
            </a:r>
            <a:endParaRPr sz="3200"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800100" y="2012225"/>
            <a:ext cx="72699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 sz="3200"/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Injury from falling is common in assisted living and can lead to significant issues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Traditional camera based sensors violate individual’s right to privacy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3200"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 human fall detector that uses short wave radio and sends alerts via an app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These detectors can be used in more sensitive areas and prevent privacy violations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4150" y="2012225"/>
            <a:ext cx="3268250" cy="32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/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Overview</a:t>
            </a:r>
            <a:endParaRPr/>
          </a:p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grpSp>
        <p:nvGrpSpPr>
          <p:cNvPr id="73" name="Google Shape;73;p3"/>
          <p:cNvGrpSpPr/>
          <p:nvPr/>
        </p:nvGrpSpPr>
        <p:grpSpPr>
          <a:xfrm>
            <a:off x="2001697" y="1706186"/>
            <a:ext cx="8188601" cy="4919899"/>
            <a:chOff x="1261050" y="651425"/>
            <a:chExt cx="7355912" cy="4419600"/>
          </a:xfrm>
        </p:grpSpPr>
        <p:grpSp>
          <p:nvGrpSpPr>
            <p:cNvPr id="74" name="Google Shape;74;p3"/>
            <p:cNvGrpSpPr/>
            <p:nvPr/>
          </p:nvGrpSpPr>
          <p:grpSpPr>
            <a:xfrm>
              <a:off x="1261050" y="651425"/>
              <a:ext cx="7355912" cy="4419600"/>
              <a:chOff x="1261050" y="651425"/>
              <a:chExt cx="7355912" cy="4419600"/>
            </a:xfrm>
          </p:grpSpPr>
          <p:sp>
            <p:nvSpPr>
              <p:cNvPr id="75" name="Google Shape;75;p3"/>
              <p:cNvSpPr/>
              <p:nvPr/>
            </p:nvSpPr>
            <p:spPr>
              <a:xfrm>
                <a:off x="1261050" y="651425"/>
                <a:ext cx="3799800" cy="44196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12025">
                <a:solidFill>
                  <a:srgbClr val="1F49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66"/>
              </a:p>
            </p:txBody>
          </p:sp>
          <p:sp>
            <p:nvSpPr>
              <p:cNvPr id="76" name="Google Shape;76;p3"/>
              <p:cNvSpPr txBox="1"/>
              <p:nvPr/>
            </p:nvSpPr>
            <p:spPr>
              <a:xfrm>
                <a:off x="1708154" y="803831"/>
                <a:ext cx="2905500" cy="5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66"/>
                  <a:t>Human Radar Unit</a:t>
                </a:r>
                <a:endParaRPr b="1" sz="1766"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423600" y="1332167"/>
                <a:ext cx="1269900" cy="2072700"/>
              </a:xfrm>
              <a:prstGeom prst="roundRect">
                <a:avLst>
                  <a:gd fmla="val 16667" name="adj"/>
                </a:avLst>
              </a:prstGeom>
              <a:solidFill>
                <a:srgbClr val="6AA84F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66"/>
                  <a:t>Power Supply (Aiden George)</a:t>
                </a:r>
                <a:endParaRPr sz="1766"/>
              </a:p>
            </p:txBody>
          </p:sp>
          <p:cxnSp>
            <p:nvCxnSpPr>
              <p:cNvPr id="78" name="Google Shape;78;p3"/>
              <p:cNvCxnSpPr/>
              <p:nvPr/>
            </p:nvCxnSpPr>
            <p:spPr>
              <a:xfrm>
                <a:off x="2703766" y="1677610"/>
                <a:ext cx="498000" cy="0"/>
              </a:xfrm>
              <a:prstGeom prst="straightConnector1">
                <a:avLst/>
              </a:prstGeom>
              <a:noFill/>
              <a:ln cap="flat" cmpd="sng" w="120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" name="Google Shape;79;p3"/>
              <p:cNvSpPr/>
              <p:nvPr/>
            </p:nvSpPr>
            <p:spPr>
              <a:xfrm>
                <a:off x="3201615" y="1291508"/>
                <a:ext cx="1686600" cy="690900"/>
              </a:xfrm>
              <a:prstGeom prst="roundRect">
                <a:avLst>
                  <a:gd fmla="val 16667" name="adj"/>
                </a:avLst>
              </a:prstGeom>
              <a:solidFill>
                <a:srgbClr val="D5A6BD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40"/>
                  <a:t>Millimeter Wave Radar Unit</a:t>
                </a:r>
                <a:endParaRPr sz="164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252276" y="2459956"/>
                <a:ext cx="1585200" cy="1788000"/>
              </a:xfrm>
              <a:prstGeom prst="roundRect">
                <a:avLst>
                  <a:gd fmla="val 16667" name="adj"/>
                </a:avLst>
              </a:prstGeom>
              <a:solidFill>
                <a:srgbClr val="FFE599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13"/>
              </a:p>
            </p:txBody>
          </p:sp>
          <p:cxnSp>
            <p:nvCxnSpPr>
              <p:cNvPr id="81" name="Google Shape;81;p3"/>
              <p:cNvCxnSpPr>
                <a:stCxn id="79" idx="2"/>
                <a:endCxn id="80" idx="0"/>
              </p:cNvCxnSpPr>
              <p:nvPr/>
            </p:nvCxnSpPr>
            <p:spPr>
              <a:xfrm>
                <a:off x="4044915" y="1982408"/>
                <a:ext cx="0" cy="477600"/>
              </a:xfrm>
              <a:prstGeom prst="straightConnector1">
                <a:avLst/>
              </a:prstGeom>
              <a:noFill/>
              <a:ln cap="flat" cmpd="sng" w="120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2" name="Google Shape;82;p3"/>
              <p:cNvCxnSpPr/>
              <p:nvPr/>
            </p:nvCxnSpPr>
            <p:spPr>
              <a:xfrm>
                <a:off x="2713938" y="2825686"/>
                <a:ext cx="558900" cy="10200"/>
              </a:xfrm>
              <a:prstGeom prst="straightConnector1">
                <a:avLst/>
              </a:prstGeom>
              <a:noFill/>
              <a:ln cap="flat" cmpd="sng" w="120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3" name="Google Shape;83;p3"/>
              <p:cNvSpPr/>
              <p:nvPr/>
            </p:nvSpPr>
            <p:spPr>
              <a:xfrm>
                <a:off x="3481182" y="3262561"/>
                <a:ext cx="1097100" cy="690900"/>
              </a:xfrm>
              <a:prstGeom prst="roundRect">
                <a:avLst>
                  <a:gd fmla="val 16667" name="adj"/>
                </a:avLst>
              </a:prstGeom>
              <a:solidFill>
                <a:srgbClr val="FF9900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35"/>
                  <a:t>Neural Network </a:t>
                </a:r>
                <a:r>
                  <a:rPr lang="en-US" sz="1135"/>
                  <a:t>Classification (JJ Chirat)</a:t>
                </a:r>
                <a:endParaRPr sz="1135"/>
              </a:p>
            </p:txBody>
          </p:sp>
          <p:sp>
            <p:nvSpPr>
              <p:cNvPr id="84" name="Google Shape;84;p3"/>
              <p:cNvSpPr txBox="1"/>
              <p:nvPr/>
            </p:nvSpPr>
            <p:spPr>
              <a:xfrm>
                <a:off x="3293331" y="2632649"/>
                <a:ext cx="1473000" cy="34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94"/>
                  <a:t>Microcontroller (William Jachimiak)</a:t>
                </a:r>
                <a:endParaRPr sz="1194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777962" y="2475256"/>
                <a:ext cx="1839000" cy="17574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66"/>
              </a:p>
            </p:txBody>
          </p:sp>
          <p:cxnSp>
            <p:nvCxnSpPr>
              <p:cNvPr id="86" name="Google Shape;86;p3"/>
              <p:cNvCxnSpPr>
                <a:stCxn id="80" idx="3"/>
                <a:endCxn id="85" idx="1"/>
              </p:cNvCxnSpPr>
              <p:nvPr/>
            </p:nvCxnSpPr>
            <p:spPr>
              <a:xfrm>
                <a:off x="4837476" y="3353956"/>
                <a:ext cx="1940400" cy="0"/>
              </a:xfrm>
              <a:prstGeom prst="straightConnector1">
                <a:avLst/>
              </a:prstGeom>
              <a:noFill/>
              <a:ln cap="flat" cmpd="sng" w="120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7" name="Google Shape;87;p3"/>
              <p:cNvSpPr txBox="1"/>
              <p:nvPr/>
            </p:nvSpPr>
            <p:spPr>
              <a:xfrm>
                <a:off x="7001485" y="2571704"/>
                <a:ext cx="1473000" cy="40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66"/>
                  <a:t>End User</a:t>
                </a:r>
                <a:endParaRPr b="1" sz="1766"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7311426" y="2925732"/>
                <a:ext cx="1097100" cy="660300"/>
              </a:xfrm>
              <a:prstGeom prst="round2DiagRect">
                <a:avLst>
                  <a:gd fmla="val 16667" name="adj1"/>
                  <a:gd fmla="val 0" name="adj2"/>
                </a:avLst>
              </a:prstGeom>
              <a:solidFill>
                <a:srgbClr val="E06666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66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7167661" y="3023851"/>
                <a:ext cx="1097100" cy="660300"/>
              </a:xfrm>
              <a:prstGeom prst="round2DiagRect">
                <a:avLst>
                  <a:gd fmla="val 16667" name="adj1"/>
                  <a:gd fmla="val 0" name="adj2"/>
                </a:avLst>
              </a:prstGeom>
              <a:solidFill>
                <a:srgbClr val="E06666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66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7037100" y="3139083"/>
                <a:ext cx="1097100" cy="660300"/>
              </a:xfrm>
              <a:prstGeom prst="round2DiagRect">
                <a:avLst>
                  <a:gd fmla="val 16667" name="adj1"/>
                  <a:gd fmla="val 0" name="adj2"/>
                </a:avLst>
              </a:prstGeom>
              <a:solidFill>
                <a:srgbClr val="E06666"/>
              </a:solidFill>
              <a:ln cap="flat" cmpd="sng" w="12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5350" lIns="115350" spcFirstLastPara="1" rIns="115350" wrap="square" tIns="115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9"/>
                  <a:t>Mobile Application</a:t>
                </a:r>
                <a:endParaRPr sz="1209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9"/>
                  <a:t>(Preston Bowyer)</a:t>
                </a:r>
                <a:endParaRPr sz="1209"/>
              </a:p>
            </p:txBody>
          </p:sp>
        </p:grpSp>
        <p:sp>
          <p:nvSpPr>
            <p:cNvPr id="91" name="Google Shape;91;p3"/>
            <p:cNvSpPr txBox="1"/>
            <p:nvPr/>
          </p:nvSpPr>
          <p:spPr>
            <a:xfrm>
              <a:off x="5085975" y="2820900"/>
              <a:ext cx="16494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75" lIns="101775" spcFirstLastPara="1" rIns="101775" wrap="square" tIns="101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8"/>
                <a:t>Firebase Cloud Service</a:t>
              </a:r>
              <a:endParaRPr sz="1558"/>
            </a:p>
          </p:txBody>
        </p:sp>
        <p:sp>
          <p:nvSpPr>
            <p:cNvPr id="92" name="Google Shape;92;p3"/>
            <p:cNvSpPr txBox="1"/>
            <p:nvPr/>
          </p:nvSpPr>
          <p:spPr>
            <a:xfrm>
              <a:off x="1625600" y="3762200"/>
              <a:ext cx="124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75" lIns="101775" spcFirstLastPara="1" rIns="101775" wrap="square" tIns="10177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8"/>
                <a:t>Shared PCB</a:t>
              </a:r>
              <a:endParaRPr sz="1558"/>
            </a:p>
          </p:txBody>
        </p:sp>
        <p:cxnSp>
          <p:nvCxnSpPr>
            <p:cNvPr id="93" name="Google Shape;93;p3"/>
            <p:cNvCxnSpPr>
              <a:stCxn id="92" idx="3"/>
            </p:cNvCxnSpPr>
            <p:nvPr/>
          </p:nvCxnSpPr>
          <p:spPr>
            <a:xfrm flipH="1" rot="10800000">
              <a:off x="2871800" y="2865800"/>
              <a:ext cx="9000" cy="1096500"/>
            </a:xfrm>
            <a:prstGeom prst="straightConnector1">
              <a:avLst/>
            </a:prstGeom>
            <a:noFill/>
            <a:ln cap="flat" cmpd="sng" w="106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" name="Google Shape;94;p3"/>
            <p:cNvSpPr txBox="1"/>
            <p:nvPr/>
          </p:nvSpPr>
          <p:spPr>
            <a:xfrm>
              <a:off x="3391700" y="3926400"/>
              <a:ext cx="1290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75" lIns="101775" spcFirstLastPara="1" rIns="101775" wrap="square" tIns="1017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3"/>
                <a:t>Deployed on MCU</a:t>
              </a:r>
              <a:endParaRPr sz="1113"/>
            </a:p>
          </p:txBody>
        </p:sp>
        <p:sp>
          <p:nvSpPr>
            <p:cNvPr id="95" name="Google Shape;95;p3"/>
            <p:cNvSpPr txBox="1"/>
            <p:nvPr/>
          </p:nvSpPr>
          <p:spPr>
            <a:xfrm>
              <a:off x="6932725" y="3872625"/>
              <a:ext cx="15048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75" lIns="101775" spcFirstLastPara="1" rIns="101775" wrap="square" tIns="101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4"/>
                <a:t>Flutter Framework</a:t>
              </a:r>
              <a:endParaRPr sz="1224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4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{15B62CD9-A32F-471F-BB4C-80B3ACD8DCD5}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40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Finished implementing preprocessing code </a:t>
                      </a:r>
                      <a:r>
                        <a:rPr lang="en-US" sz="1800"/>
                        <a:t>- binary to .json conversion, calibrating for training parameters, feature scaling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Finish implementing code for neural network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Collect ~40 datasets (30 for training, 10 for testing)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Train model, evaluate loss &amp; accuracy, set benchmark by the end of this week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4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Machine Learning (Neural Network)</a:t>
            </a:r>
            <a:br>
              <a:rPr lang="en-US"/>
            </a:br>
            <a:r>
              <a:rPr lang="en-US" sz="1800"/>
              <a:t>Jean Jacques Chirat</a:t>
            </a:r>
            <a:endParaRPr sz="3200"/>
          </a:p>
        </p:txBody>
      </p:sp>
      <p:sp>
        <p:nvSpPr>
          <p:cNvPr id="102" name="Google Shape;102;p4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idx="12" type="sldNum"/>
          </p:nvPr>
        </p:nvSpPr>
        <p:spPr>
          <a:xfrm>
            <a:off x="10835640" y="6235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108" name="Google Shape;108;p5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Machine Learning (Neural Network)</a:t>
            </a:r>
            <a:br>
              <a:rPr lang="en-US"/>
            </a:br>
            <a:r>
              <a:rPr lang="en-US" sz="1800"/>
              <a:t>Jean Jacques Chirat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402400" y="5058075"/>
            <a:ext cx="33375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Data visualized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Orange is falling pattern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Blue is non-falling pattern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0" name="Google Shape;110;p5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74" y="2009725"/>
            <a:ext cx="3871075" cy="29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 title="Figure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937" y="2009725"/>
            <a:ext cx="3871075" cy="29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 title="Figure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5000" y="2009725"/>
            <a:ext cx="3871075" cy="290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4163450" y="5030750"/>
            <a:ext cx="70764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Falling pattern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Left is x-coordinate (orientated so that “x” is vertical)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Right is doppler velocity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g39bf8ac91ae_0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{15B62CD9-A32F-471F-BB4C-80B3ACD8DCD5}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Finished</a:t>
                      </a:r>
                      <a:r>
                        <a:rPr lang="en-US" sz="1800"/>
                        <a:t> the schematics tied to the PCB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Finishing</a:t>
                      </a:r>
                      <a:r>
                        <a:rPr lang="en-US" sz="1800"/>
                        <a:t> the routing of the PCB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Plan to start working on getting WIFI output signals from MCU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g39bf8ac91ae_0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MCU/PCB</a:t>
            </a:r>
            <a:br>
              <a:rPr lang="en-US"/>
            </a:br>
            <a:r>
              <a:rPr lang="en-US" sz="1800"/>
              <a:t>William Jachimiak</a:t>
            </a:r>
            <a:endParaRPr sz="3200"/>
          </a:p>
        </p:txBody>
      </p:sp>
      <p:sp>
        <p:nvSpPr>
          <p:cNvPr id="120" name="Google Shape;120;g39bf8ac91ae_0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f8ac91ae_0_7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126" name="Google Shape;126;g39bf8ac91ae_0_7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MCU/PCB</a:t>
            </a:r>
            <a:br>
              <a:rPr lang="en-US"/>
            </a:br>
            <a:r>
              <a:rPr lang="en-US" sz="1800"/>
              <a:t>William Jachimiak</a:t>
            </a:r>
            <a:endParaRPr sz="3200"/>
          </a:p>
        </p:txBody>
      </p:sp>
      <p:pic>
        <p:nvPicPr>
          <p:cNvPr id="127" name="Google Shape;127;g39bf8ac91ae_0_7" title="PCB 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275" y="1858575"/>
            <a:ext cx="5168674" cy="36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bf8ac91ae_0_7"/>
          <p:cNvSpPr txBox="1"/>
          <p:nvPr/>
        </p:nvSpPr>
        <p:spPr>
          <a:xfrm>
            <a:off x="3068163" y="6052175"/>
            <a:ext cx="227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Current PCB Layout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9" name="Google Shape;129;g39bf8ac91ae_0_7"/>
          <p:cNvSpPr txBox="1"/>
          <p:nvPr/>
        </p:nvSpPr>
        <p:spPr>
          <a:xfrm>
            <a:off x="8474313" y="6052175"/>
            <a:ext cx="227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MCU Schematic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0" name="Google Shape;130;g39bf8ac91ae_0_7" title="MCU Schemat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7224" y="1706167"/>
            <a:ext cx="4216913" cy="404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g39bf8ac91ae_0_14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{15B62CD9-A32F-471F-BB4C-80B3ACD8DCD5}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Researched and designed battery charger IC for power supply design 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Finialized power supply design for PCB </a:t>
                      </a:r>
                      <a:r>
                        <a:rPr lang="en-US" sz="1800"/>
                        <a:t>Implementation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Conducted PSpice simulation of components to </a:t>
                      </a:r>
                      <a:r>
                        <a:rPr lang="en-US" sz="1800"/>
                        <a:t>validate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design</a:t>
                      </a:r>
                      <a:r>
                        <a:rPr lang="en-US" sz="1800"/>
                        <a:t> for use case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g39bf8ac91ae_0_14"/>
          <p:cNvSpPr txBox="1"/>
          <p:nvPr/>
        </p:nvSpPr>
        <p:spPr>
          <a:xfrm>
            <a:off x="609600" y="571830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" name="Google Shape;137;g39bf8ac91ae_0_14"/>
          <p:cNvSpPr txBox="1"/>
          <p:nvPr>
            <p:ph type="title"/>
          </p:nvPr>
        </p:nvSpPr>
        <p:spPr>
          <a:xfrm>
            <a:off x="697900" y="840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r>
              <a:rPr lang="en-US"/>
              <a:t> Supply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Aiden George</a:t>
            </a:r>
            <a:endParaRPr/>
          </a:p>
        </p:txBody>
      </p:sp>
      <p:sp>
        <p:nvSpPr>
          <p:cNvPr id="138" name="Google Shape;138;g39bf8ac91ae_0_14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f8ac91ae_0_21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144" name="Google Shape;144;g39bf8ac91ae_0_21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Subsystem 3</a:t>
            </a:r>
            <a:br>
              <a:rPr lang="en-US"/>
            </a:br>
            <a:r>
              <a:rPr lang="en-US" sz="1800"/>
              <a:t>Aiden George</a:t>
            </a:r>
            <a:endParaRPr sz="3200"/>
          </a:p>
        </p:txBody>
      </p:sp>
      <p:pic>
        <p:nvPicPr>
          <p:cNvPr id="145" name="Google Shape;145;g39bf8ac91ae_0_21" title="Power Schema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247" y="1593505"/>
            <a:ext cx="5315303" cy="417862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9bf8ac91ae_0_21"/>
          <p:cNvSpPr txBox="1"/>
          <p:nvPr/>
        </p:nvSpPr>
        <p:spPr>
          <a:xfrm>
            <a:off x="4826000" y="6030475"/>
            <a:ext cx="227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Power Schematic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g39bf8ac91ae_0_35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{15B62CD9-A32F-471F-BB4C-80B3ACD8DCD5}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Developed the main UI and successfully deployed the app to an Android device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Integrated Firebase Cloud Messaging for real-time alerts on Android 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Built Firestore alert feed with All, Unread, and Critical filters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Deploy Cloud Function to automatically send FCM alerts for critical events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Debugging and validating end-to-end notification reliability across app states and device types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Updating the UI to a modern, sleeker look,and planning pagination for for alerts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g39bf8ac91ae_0_35"/>
          <p:cNvSpPr txBox="1"/>
          <p:nvPr/>
        </p:nvSpPr>
        <p:spPr>
          <a:xfrm>
            <a:off x="609600" y="571830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g39bf8ac91ae_0_35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End-User App</a:t>
            </a:r>
            <a:br>
              <a:rPr lang="en-US"/>
            </a:br>
            <a:r>
              <a:rPr lang="en-US" sz="1800"/>
              <a:t>Preston Bowyer</a:t>
            </a:r>
            <a:endParaRPr sz="3200"/>
          </a:p>
        </p:txBody>
      </p:sp>
      <p:sp>
        <p:nvSpPr>
          <p:cNvPr id="154" name="Google Shape;154;g39bf8ac91ae_0_35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f8ac91ae_0_28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160" name="Google Shape;160;g39bf8ac91ae_0_28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End-User App</a:t>
            </a:r>
            <a:br>
              <a:rPr lang="en-US"/>
            </a:br>
            <a:r>
              <a:rPr lang="en-US" sz="1800"/>
              <a:t>Preston Bowyer</a:t>
            </a:r>
            <a:endParaRPr sz="3200"/>
          </a:p>
        </p:txBody>
      </p:sp>
      <p:pic>
        <p:nvPicPr>
          <p:cNvPr id="161" name="Google Shape;161;g39bf8ac91ae_0_28" title="Screenshot_20251021-211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454" y="1792546"/>
            <a:ext cx="2024527" cy="4159162"/>
          </a:xfrm>
          <a:prstGeom prst="rect">
            <a:avLst/>
          </a:prstGeom>
          <a:noFill/>
          <a:ln cap="flat" cmpd="sng" w="37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g39bf8ac91ae_0_28" title="Screenshot_20251021-2117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0454" y="1793704"/>
            <a:ext cx="2023395" cy="4156837"/>
          </a:xfrm>
          <a:prstGeom prst="rect">
            <a:avLst/>
          </a:prstGeom>
          <a:noFill/>
          <a:ln cap="flat" cmpd="sng" w="37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g39bf8ac91ae_0_28" title="Screenshot_20251021-2115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7736" y="1792525"/>
            <a:ext cx="2024533" cy="4159198"/>
          </a:xfrm>
          <a:prstGeom prst="rect">
            <a:avLst/>
          </a:prstGeom>
          <a:noFill/>
          <a:ln cap="flat" cmpd="sng" w="37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g39bf8ac91ae_0_28" title="Screenshot_20251021-1030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8150" y="1792525"/>
            <a:ext cx="2023393" cy="4159197"/>
          </a:xfrm>
          <a:prstGeom prst="rect">
            <a:avLst/>
          </a:prstGeom>
          <a:noFill/>
          <a:ln cap="flat" cmpd="sng" w="37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g39bf8ac91ae_0_28"/>
          <p:cNvSpPr txBox="1"/>
          <p:nvPr/>
        </p:nvSpPr>
        <p:spPr>
          <a:xfrm>
            <a:off x="1241075" y="6043025"/>
            <a:ext cx="2070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Cleared alerts page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6" name="Google Shape;166;g39bf8ac91ae_0_28"/>
          <p:cNvSpPr txBox="1"/>
          <p:nvPr/>
        </p:nvSpPr>
        <p:spPr>
          <a:xfrm>
            <a:off x="3786110" y="6058355"/>
            <a:ext cx="2070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Alerts page with demo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7" name="Google Shape;167;g39bf8ac91ae_0_28"/>
          <p:cNvSpPr txBox="1"/>
          <p:nvPr/>
        </p:nvSpPr>
        <p:spPr>
          <a:xfrm>
            <a:off x="6346475" y="6043025"/>
            <a:ext cx="2070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Settings page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8" name="Google Shape;168;g39bf8ac91ae_0_28"/>
          <p:cNvSpPr txBox="1"/>
          <p:nvPr/>
        </p:nvSpPr>
        <p:spPr>
          <a:xfrm>
            <a:off x="8855664" y="6047985"/>
            <a:ext cx="2070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Dark mode and alert details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/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941"/>
          <a:stretch/>
        </p:blipFill>
        <p:spPr>
          <a:xfrm>
            <a:off x="1043575" y="1619825"/>
            <a:ext cx="10104851" cy="48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Validation plan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7"/>
          <p:cNvGraphicFramePr/>
          <p:nvPr/>
        </p:nvGraphicFramePr>
        <p:xfrm>
          <a:off x="2238375" y="17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{3A8332D9-F006-477A-B4F3-9AB9D2009CC4}</a:tableStyleId>
              </a:tblPr>
              <a:tblGrid>
                <a:gridCol w="2571750"/>
                <a:gridCol w="2571750"/>
                <a:gridCol w="2571750"/>
              </a:tblGrid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Specification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Owner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Peak Power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 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Aiden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Radar Detect Distance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 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Detection</a:t>
                      </a:r>
                      <a:r>
                        <a:rPr lang="en-US"/>
                        <a:t> </a:t>
                      </a:r>
                      <a:r>
                        <a:rPr lang="en-US"/>
                        <a:t>False</a:t>
                      </a:r>
                      <a:r>
                        <a:rPr lang="en-US"/>
                        <a:t> Positive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≤ 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JJ/William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Detection False Negative Rate</a:t>
                      </a:r>
                      <a:r>
                        <a:rPr lang="en-U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≤ 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JJ/William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Push Notification delivery success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≥ 99%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Preston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Multi-device fan-out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± 300ms spread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Preston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idx="1" type="body"/>
          </p:nvPr>
        </p:nvSpPr>
        <p:spPr>
          <a:xfrm>
            <a:off x="1981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Thank you for listening!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Questions &amp; Answers</a:t>
            </a:r>
            <a:endParaRPr b="1"/>
          </a:p>
        </p:txBody>
      </p:sp>
      <p:sp>
        <p:nvSpPr>
          <p:cNvPr id="188" name="Google Shape;188;p8"/>
          <p:cNvSpPr txBox="1"/>
          <p:nvPr/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