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980743-366E-45DC-BF81-7BB6AC5106B9}">
  <a:tblStyle styleId="{61980743-366E-45DC-BF81-7BB6AC5106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25e6071f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25e6071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9adb11f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29adb11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29adb11f7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29adb11f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a9107a5b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2a9107a5b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74ebd80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74ebd8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b74ebd80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b74ebd8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2a9107a5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2a9107a5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a9107a5b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2a9107a5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25e6071f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25e6071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25e6071f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25e6071f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a9107a5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a9107a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a9107a5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2a9107a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2a9107a5b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2a9107a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ctrTitle"/>
          </p:nvPr>
        </p:nvSpPr>
        <p:spPr>
          <a:xfrm>
            <a:off x="1619250" y="4244975"/>
            <a:ext cx="7302600" cy="22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ECEN 403 Final Presentation</a:t>
            </a:r>
            <a:br>
              <a:rPr lang="en-US"/>
            </a:br>
            <a:r>
              <a:rPr lang="en-US"/>
              <a:t>Team 61 HARD</a:t>
            </a:r>
            <a:br>
              <a:rPr lang="en-US"/>
            </a:br>
            <a:r>
              <a:rPr lang="en-US"/>
              <a:t>William Jachimiak, Jean Jacques Chirat, Preston Bowyer, Aiden George</a:t>
            </a:r>
            <a:br>
              <a:rPr lang="en-US"/>
            </a:b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Problem Overview</a:t>
            </a:r>
            <a:endParaRPr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57200" y="1852925"/>
            <a:ext cx="8229600" cy="4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 </a:t>
            </a:r>
            <a:r>
              <a:rPr lang="en-US" sz="2400"/>
              <a:t>Our project seeks to solve the problem of monitoring fall injury prone individuals in assisted-care through the following implementation: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Collection of vertical position &amp; velocity data (minimally invasive) using mmWave radar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Stream the data to ESP32 to be processed by ML detection algorithm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ESP32 communicates positive detection result over WiFi network to Firebase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Firebase interfaces with Android app to notify assisted-care workers if fall event occurs</a:t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Overview (System Diagram)</a:t>
            </a:r>
            <a:endParaRPr/>
          </a:p>
        </p:txBody>
      </p:sp>
      <p:pic>
        <p:nvPicPr>
          <p:cNvPr id="68" name="Google Shape;68;p10" title="Final System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988" y="1998402"/>
            <a:ext cx="6668016" cy="470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System</a:t>
            </a:r>
            <a:endParaRPr/>
          </a:p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457200" y="2049275"/>
            <a:ext cx="3855300" cy="463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Provides power both to ESP-32 and Ti Radar Unit using buck converter ICs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Power is stepped down from two Li-</a:t>
            </a:r>
            <a:r>
              <a:rPr lang="en-US" sz="2000"/>
              <a:t>Ion</a:t>
            </a:r>
            <a:r>
              <a:rPr lang="en-US" sz="2000"/>
              <a:t> 3.6V batteries in series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Battery is charged from a wall mounted 12V AC/DC converted paired with a BQ24600 charging IC to deliver 6A to the battery pack</a:t>
            </a:r>
            <a:endParaRPr sz="2000"/>
          </a:p>
        </p:txBody>
      </p:sp>
      <p:pic>
        <p:nvPicPr>
          <p:cNvPr id="75" name="Google Shape;75;p11" title="Untitled drawing (2).png"/>
          <p:cNvPicPr preferRelativeResize="0"/>
          <p:nvPr/>
        </p:nvPicPr>
        <p:blipFill rotWithShape="1">
          <a:blip r:embed="rId3">
            <a:alphaModFix/>
          </a:blip>
          <a:srcRect b="53837" l="6645" r="9342" t="5789"/>
          <a:stretch/>
        </p:blipFill>
        <p:spPr>
          <a:xfrm>
            <a:off x="4312500" y="1773125"/>
            <a:ext cx="4705375" cy="169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 title="Power Schemat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250" y="3548775"/>
            <a:ext cx="4314449" cy="32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457200" y="97760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</a:t>
            </a:r>
            <a:endParaRPr/>
          </a:p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457200" y="1878600"/>
            <a:ext cx="46011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power system PCB was finalized and ordered, based on design criteria found from Ti Data.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Additional simulation done in PSpice to verify design </a:t>
            </a:r>
            <a:r>
              <a:rPr lang="en-US" sz="2400"/>
              <a:t>functionality</a:t>
            </a:r>
            <a:r>
              <a:rPr lang="en-US" sz="2400"/>
              <a:t> based on Webench Recommendations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All IC Components have been </a:t>
            </a:r>
            <a:r>
              <a:rPr lang="en-US" sz="2400"/>
              <a:t>received, awaiting PCB to begin validation of power system design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83" name="Google Shape;83;p12" title="Screenshot 2025-11-12 092211.png"/>
          <p:cNvPicPr preferRelativeResize="0"/>
          <p:nvPr/>
        </p:nvPicPr>
        <p:blipFill rotWithShape="1">
          <a:blip r:embed="rId3">
            <a:alphaModFix/>
          </a:blip>
          <a:srcRect b="22113" l="3382" r="0" t="-1058"/>
          <a:stretch/>
        </p:blipFill>
        <p:spPr>
          <a:xfrm>
            <a:off x="5210700" y="1781300"/>
            <a:ext cx="2850075" cy="222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2" title="Screenshot 2025-11-12 0927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700" y="4061349"/>
            <a:ext cx="3780899" cy="2598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 PCB </a:t>
            </a:r>
            <a:endParaRPr/>
          </a:p>
        </p:txBody>
      </p:sp>
      <p:pic>
        <p:nvPicPr>
          <p:cNvPr id="90" name="Google Shape;90;p13" title="Screenshot 2025-11-12 054110.png"/>
          <p:cNvPicPr preferRelativeResize="0"/>
          <p:nvPr/>
        </p:nvPicPr>
        <p:blipFill rotWithShape="1">
          <a:blip r:embed="rId3">
            <a:alphaModFix/>
          </a:blip>
          <a:srcRect b="0" l="0" r="3091" t="0"/>
          <a:stretch/>
        </p:blipFill>
        <p:spPr>
          <a:xfrm>
            <a:off x="2559637" y="1911925"/>
            <a:ext cx="4988676" cy="388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MCU Subsystem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57200" y="2049275"/>
            <a:ext cx="8229600" cy="436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Accomplishments</a:t>
            </a:r>
            <a:r>
              <a:rPr lang="en-US"/>
              <a:t>:</a:t>
            </a:r>
            <a:endParaRPr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Designed the schematic for the MCU in the PCB.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Routed the MCU in the PCB and routed all of the power going to the MCU and the Radar chip.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Connected the MCU to WIFI and set up a system to send out JSON signals.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MCU Subsystem</a:t>
            </a:r>
            <a:endParaRPr/>
          </a:p>
        </p:txBody>
      </p:sp>
      <p:pic>
        <p:nvPicPr>
          <p:cNvPr id="114" name="Google Shape;114;p17" title="routing mc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0" y="2371300"/>
            <a:ext cx="4097151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title="json alert.png"/>
          <p:cNvPicPr preferRelativeResize="0"/>
          <p:nvPr/>
        </p:nvPicPr>
        <p:blipFill rotWithShape="1">
          <a:blip r:embed="rId4">
            <a:alphaModFix/>
          </a:blip>
          <a:srcRect b="0" l="0" r="49354" t="0"/>
          <a:stretch/>
        </p:blipFill>
        <p:spPr>
          <a:xfrm>
            <a:off x="4067800" y="2162300"/>
            <a:ext cx="5076199" cy="39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Subsystem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57200" y="2049276"/>
            <a:ext cx="8229600" cy="449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Accomplishments</a:t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Implemented the code for preprocessing the raw data output by the radar board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Collected data samples (ongoing) to ensure reliable prediction by model</a:t>
            </a:r>
            <a:endParaRPr sz="24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Produced benchmark accuracy for training the model on larger sets of data in the future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Subsystem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225" y="1912249"/>
            <a:ext cx="3067225" cy="39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656025" y="6029850"/>
            <a:ext cx="3067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Baseline accuracy for future training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1525" y="3137577"/>
            <a:ext cx="4623925" cy="2774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4717775" y="6029850"/>
            <a:ext cx="3191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 loss function over 15 epochs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User App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457200" y="18528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461"/>
              <a:t>Core Functionalities Implemented:</a:t>
            </a:r>
            <a:endParaRPr b="1" sz="5461"/>
          </a:p>
          <a:p>
            <a:pPr indent="-315287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5461"/>
              <a:t>User Authentication: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Secure sign-in and sign-out using Firebase Authentication.</a:t>
            </a:r>
            <a:br>
              <a:rPr lang="en-US" sz="5461"/>
            </a:br>
            <a:endParaRPr sz="5461"/>
          </a:p>
          <a:p>
            <a:pPr indent="-31528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461"/>
              <a:t>Alert System: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Displays alert cards showing room, time, and alert details, with </a:t>
            </a:r>
            <a:r>
              <a:rPr lang="en-US" sz="5461"/>
              <a:t>acknowledgement button that updates the alert status in Firestore.</a:t>
            </a:r>
            <a:br>
              <a:rPr lang="en-US" sz="5461"/>
            </a:br>
            <a:endParaRPr sz="5461"/>
          </a:p>
          <a:p>
            <a:pPr indent="-31528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461"/>
              <a:t>Cloud Integration: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Alerts stored and retrieved from Firestore, including </a:t>
            </a:r>
            <a:r>
              <a:rPr lang="en-US" sz="5461"/>
              <a:t>includes timestamp, status, and acknowledgement tracking.</a:t>
            </a:r>
            <a:br>
              <a:rPr lang="en-US" sz="5461"/>
            </a:br>
            <a:endParaRPr sz="5461"/>
          </a:p>
          <a:p>
            <a:pPr indent="-31528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461"/>
              <a:t>Push Notifications: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Fully integrated with Firebase Cloud Messaging (FCM).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When an alert is sent from Firebase, a notification banner appears on the device. </a:t>
            </a:r>
            <a:r>
              <a:rPr lang="en-US" sz="5461"/>
              <a:t>Tapping the banner opens the corresponding </a:t>
            </a:r>
            <a:r>
              <a:rPr i="1" lang="en-US" sz="5461"/>
              <a:t>Alert Detail</a:t>
            </a:r>
            <a:r>
              <a:rPr lang="en-US" sz="5461"/>
              <a:t> page</a:t>
            </a:r>
            <a:r>
              <a:rPr lang="en-US" sz="5461"/>
              <a:t>.</a:t>
            </a:r>
            <a:br>
              <a:rPr lang="en-US" sz="5461"/>
            </a:br>
            <a:endParaRPr sz="5461"/>
          </a:p>
          <a:p>
            <a:pPr indent="-31528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461"/>
              <a:t>UI/UX: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Clean 3-tab layout: All, Unread, and Acknowledged.</a:t>
            </a:r>
            <a:br>
              <a:rPr lang="en-US" sz="5461"/>
            </a:br>
            <a:endParaRPr sz="5461"/>
          </a:p>
          <a:p>
            <a:pPr indent="-315287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461"/>
              <a:t>Tested successfully on Android device (Pixel 3a).</a:t>
            </a:r>
            <a:endParaRPr sz="546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User App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00" y="1731352"/>
            <a:ext cx="3133550" cy="47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8475" y="2337852"/>
            <a:ext cx="5573551" cy="348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and Validation Status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202" cy="393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714375" y="200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{61980743-366E-45DC-BF81-7BB6AC5106B9}</a:tableStyleId>
              </a:tblPr>
              <a:tblGrid>
                <a:gridCol w="2571750"/>
                <a:gridCol w="2571750"/>
                <a:gridCol w="2571750"/>
              </a:tblGrid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Task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Specification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Owner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Peak Power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 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Aiden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Maximum Charger Current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Aiden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Maximum Battery Life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 hr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Aiden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Radar Detect Distance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8m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All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Detection False Positive Rate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≤ 10%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JJ/William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Detection False Negative Rate 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≤ 5%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JJ/William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Push Notification delivery success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≥ 99%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Preston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Multi-device fan-out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± 300ms spread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Preston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Notification time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~ 5 seconds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Preston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Remaining Tasks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57200" y="1977700"/>
            <a:ext cx="8229600" cy="45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/>
              <a:t>By Demo: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Demonstrate that power system functions according to simulation behavior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Ensure that ML model can perform basic detection using a limited dataset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Data collection &amp; transmission from radar to MCU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Demonstrate information flow from cloud to app works, in-app functions operate properly, and cloud database stores information </a:t>
            </a:r>
            <a:r>
              <a:rPr lang="en-US" sz="1800"/>
              <a:t>accurately</a:t>
            </a: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/>
              <a:t>In 404: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Final PCB with the culmination of power and MCU will be fabricated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Continual collection of data until ML model satisfies detection rate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Full integration between MCU, Firebase cloud, and End User App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Design and fabrication of HARD unit radome and mount</a:t>
            </a:r>
            <a:endParaRPr sz="1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