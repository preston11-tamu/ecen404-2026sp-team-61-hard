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shdbyA7QNx+mWkP/vHJzqku1/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034662-EEEF-4DFA-BC98-1BE2B629879F}">
  <a:tblStyle styleId="{74034662-EEEF-4DFA-BC98-1BE2B62987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7f9f7b51e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7f9f7b51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1bf2e0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51bf2e0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09"/>
            <a:ext cx="1820617" cy="309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Midterm 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3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8"/>
            <a:ext cx="2320000" cy="39421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783800" y="2914650"/>
            <a:ext cx="82296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Team 61: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Human Activity Radar Detector (HARD)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</a:rPr>
              <a:t>JJ Chirat , Preston Bowyer, William Jachimiak, Aiden George</a:t>
            </a:r>
            <a:r>
              <a:rPr lang="en-US"/>
              <a:t>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TA: Roman Venegas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Sponsor: Professor Arya Menon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457200" y="7325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Human Radar Detector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457200" y="1389700"/>
            <a:ext cx="53595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Injury from falling is common in assisted living and can lead to significant issues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Traditional camera based sensors violate individual’s right to privacy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 human fall detector that uses short wave radio and sends alerts via an app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These detectors can be used in more sensitive areas and prevent privacy violations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598" y="1040719"/>
            <a:ext cx="2485368" cy="2485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770825" y="6173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3"/>
          <p:cNvGrpSpPr/>
          <p:nvPr/>
        </p:nvGrpSpPr>
        <p:grpSpPr>
          <a:xfrm>
            <a:off x="894050" y="1264650"/>
            <a:ext cx="7355912" cy="2963250"/>
            <a:chOff x="1261050" y="651425"/>
            <a:chExt cx="7355912" cy="3951000"/>
          </a:xfrm>
        </p:grpSpPr>
        <p:sp>
          <p:nvSpPr>
            <p:cNvPr id="74" name="Google Shape;74;p3"/>
            <p:cNvSpPr/>
            <p:nvPr/>
          </p:nvSpPr>
          <p:spPr>
            <a:xfrm>
              <a:off x="1261050" y="651425"/>
              <a:ext cx="3799800" cy="39510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0800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sp>
          <p:nvSpPr>
            <p:cNvPr id="75" name="Google Shape;75;p3"/>
            <p:cNvSpPr txBox="1"/>
            <p:nvPr/>
          </p:nvSpPr>
          <p:spPr>
            <a:xfrm>
              <a:off x="1708154" y="803831"/>
              <a:ext cx="2905500" cy="5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86"/>
                <a:t>Radar Detection Unit</a:t>
              </a:r>
              <a:endParaRPr b="1" sz="1586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423600" y="1332167"/>
              <a:ext cx="1269900" cy="2072700"/>
            </a:xfrm>
            <a:prstGeom prst="roundRect">
              <a:avLst>
                <a:gd fmla="val 16667" name="adj"/>
              </a:avLst>
            </a:prstGeom>
            <a:solidFill>
              <a:srgbClr val="6AA84F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86"/>
                <a:t>Power Supply</a:t>
              </a:r>
              <a:endParaRPr sz="1586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86"/>
                <a:t>(Aiden George)</a:t>
              </a:r>
              <a:endParaRPr sz="1586"/>
            </a:p>
          </p:txBody>
        </p:sp>
        <p:cxnSp>
          <p:nvCxnSpPr>
            <p:cNvPr id="77" name="Google Shape;77;p3"/>
            <p:cNvCxnSpPr/>
            <p:nvPr/>
          </p:nvCxnSpPr>
          <p:spPr>
            <a:xfrm>
              <a:off x="2703766" y="1677610"/>
              <a:ext cx="498000" cy="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" name="Google Shape;78;p3"/>
            <p:cNvSpPr/>
            <p:nvPr/>
          </p:nvSpPr>
          <p:spPr>
            <a:xfrm>
              <a:off x="3201615" y="1291508"/>
              <a:ext cx="1686600" cy="6909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73"/>
                <a:t>Millimeter Wave Radar Unit</a:t>
              </a:r>
              <a:endParaRPr sz="1473"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252276" y="2459956"/>
              <a:ext cx="1585200" cy="17880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0"/>
            </a:p>
          </p:txBody>
        </p:sp>
        <p:cxnSp>
          <p:nvCxnSpPr>
            <p:cNvPr id="80" name="Google Shape;80;p3"/>
            <p:cNvCxnSpPr>
              <a:stCxn id="78" idx="2"/>
              <a:endCxn id="79" idx="0"/>
            </p:cNvCxnSpPr>
            <p:nvPr/>
          </p:nvCxnSpPr>
          <p:spPr>
            <a:xfrm>
              <a:off x="4044915" y="1982408"/>
              <a:ext cx="0" cy="47760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1" name="Google Shape;81;p3"/>
            <p:cNvCxnSpPr/>
            <p:nvPr/>
          </p:nvCxnSpPr>
          <p:spPr>
            <a:xfrm>
              <a:off x="2713938" y="2825686"/>
              <a:ext cx="558900" cy="1020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" name="Google Shape;82;p3"/>
            <p:cNvSpPr/>
            <p:nvPr/>
          </p:nvSpPr>
          <p:spPr>
            <a:xfrm>
              <a:off x="3481182" y="3262561"/>
              <a:ext cx="1097100" cy="6909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20"/>
                <a:t>AI Classification</a:t>
              </a:r>
              <a:endParaRPr sz="102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20"/>
                <a:t>(JJ Chirat)</a:t>
              </a:r>
              <a:endParaRPr sz="1020"/>
            </a:p>
          </p:txBody>
        </p:sp>
        <p:sp>
          <p:nvSpPr>
            <p:cNvPr id="83" name="Google Shape;83;p3"/>
            <p:cNvSpPr txBox="1"/>
            <p:nvPr/>
          </p:nvSpPr>
          <p:spPr>
            <a:xfrm>
              <a:off x="3293331" y="2632649"/>
              <a:ext cx="14730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73"/>
                <a:t>Microcontroller</a:t>
              </a:r>
              <a:endParaRPr sz="1473"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777962" y="2475256"/>
              <a:ext cx="1839000" cy="1757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cxnSp>
          <p:nvCxnSpPr>
            <p:cNvPr id="85" name="Google Shape;85;p3"/>
            <p:cNvCxnSpPr>
              <a:stCxn id="79" idx="3"/>
              <a:endCxn id="84" idx="1"/>
            </p:cNvCxnSpPr>
            <p:nvPr/>
          </p:nvCxnSpPr>
          <p:spPr>
            <a:xfrm>
              <a:off x="4837476" y="3353956"/>
              <a:ext cx="1940400" cy="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" name="Google Shape;86;p3"/>
            <p:cNvSpPr txBox="1"/>
            <p:nvPr/>
          </p:nvSpPr>
          <p:spPr>
            <a:xfrm>
              <a:off x="6979710" y="2475270"/>
              <a:ext cx="14730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86"/>
                <a:t>End User</a:t>
              </a:r>
              <a:endParaRPr b="1" sz="1586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311425" y="2925724"/>
              <a:ext cx="1097100" cy="803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06666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7167650" y="3023850"/>
              <a:ext cx="1097100" cy="803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06666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7037100" y="3108475"/>
              <a:ext cx="1097100" cy="8451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06666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6"/>
                <a:t>Mobile Application</a:t>
              </a:r>
              <a:endParaRPr sz="1286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6"/>
                <a:t>(Preston Bowyer)</a:t>
              </a:r>
              <a:endParaRPr sz="1286"/>
            </a:p>
          </p:txBody>
        </p:sp>
      </p:grpSp>
      <p:sp>
        <p:nvSpPr>
          <p:cNvPr id="90" name="Google Shape;90;p3"/>
          <p:cNvSpPr txBox="1"/>
          <p:nvPr/>
        </p:nvSpPr>
        <p:spPr>
          <a:xfrm>
            <a:off x="1534575" y="3497456"/>
            <a:ext cx="1151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PCB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(William Jachimiak)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7f9f7b51e_0_2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87f9f7b51e_0_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g387f9f7b51e_0_23"/>
          <p:cNvGrpSpPr/>
          <p:nvPr/>
        </p:nvGrpSpPr>
        <p:grpSpPr>
          <a:xfrm>
            <a:off x="1511000" y="1856475"/>
            <a:ext cx="7355912" cy="2963250"/>
            <a:chOff x="1261050" y="651425"/>
            <a:chExt cx="7355912" cy="3951000"/>
          </a:xfrm>
        </p:grpSpPr>
        <p:sp>
          <p:nvSpPr>
            <p:cNvPr id="98" name="Google Shape;98;g387f9f7b51e_0_23"/>
            <p:cNvSpPr/>
            <p:nvPr/>
          </p:nvSpPr>
          <p:spPr>
            <a:xfrm>
              <a:off x="1261050" y="651425"/>
              <a:ext cx="3799800" cy="39510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0800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sp>
          <p:nvSpPr>
            <p:cNvPr id="99" name="Google Shape;99;g387f9f7b51e_0_23"/>
            <p:cNvSpPr txBox="1"/>
            <p:nvPr/>
          </p:nvSpPr>
          <p:spPr>
            <a:xfrm>
              <a:off x="1708154" y="803831"/>
              <a:ext cx="2905500" cy="5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86"/>
                <a:t>Radar Detection Unit</a:t>
              </a:r>
              <a:endParaRPr b="1" sz="1586"/>
            </a:p>
          </p:txBody>
        </p:sp>
        <p:sp>
          <p:nvSpPr>
            <p:cNvPr id="100" name="Google Shape;100;g387f9f7b51e_0_23"/>
            <p:cNvSpPr/>
            <p:nvPr/>
          </p:nvSpPr>
          <p:spPr>
            <a:xfrm>
              <a:off x="1423600" y="1332167"/>
              <a:ext cx="1269900" cy="2072700"/>
            </a:xfrm>
            <a:prstGeom prst="roundRect">
              <a:avLst>
                <a:gd fmla="val 16667" name="adj"/>
              </a:avLst>
            </a:prstGeom>
            <a:solidFill>
              <a:srgbClr val="6AA84F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86"/>
                <a:t>Power Supply</a:t>
              </a:r>
              <a:endParaRPr sz="1586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cxnSp>
          <p:nvCxnSpPr>
            <p:cNvPr id="101" name="Google Shape;101;g387f9f7b51e_0_23"/>
            <p:cNvCxnSpPr/>
            <p:nvPr/>
          </p:nvCxnSpPr>
          <p:spPr>
            <a:xfrm>
              <a:off x="2703766" y="1677610"/>
              <a:ext cx="498000" cy="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" name="Google Shape;102;g387f9f7b51e_0_23"/>
            <p:cNvSpPr/>
            <p:nvPr/>
          </p:nvSpPr>
          <p:spPr>
            <a:xfrm>
              <a:off x="3201615" y="1291508"/>
              <a:ext cx="1686600" cy="6909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73"/>
                <a:t>Millimeter Wave Radar Unit</a:t>
              </a:r>
              <a:endParaRPr sz="1473"/>
            </a:p>
          </p:txBody>
        </p:sp>
        <p:sp>
          <p:nvSpPr>
            <p:cNvPr id="103" name="Google Shape;103;g387f9f7b51e_0_23"/>
            <p:cNvSpPr/>
            <p:nvPr/>
          </p:nvSpPr>
          <p:spPr>
            <a:xfrm>
              <a:off x="3252276" y="2459956"/>
              <a:ext cx="1585200" cy="17880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0"/>
            </a:p>
          </p:txBody>
        </p:sp>
        <p:cxnSp>
          <p:nvCxnSpPr>
            <p:cNvPr id="104" name="Google Shape;104;g387f9f7b51e_0_23"/>
            <p:cNvCxnSpPr>
              <a:stCxn id="102" idx="2"/>
              <a:endCxn id="103" idx="0"/>
            </p:cNvCxnSpPr>
            <p:nvPr/>
          </p:nvCxnSpPr>
          <p:spPr>
            <a:xfrm>
              <a:off x="4044915" y="1982408"/>
              <a:ext cx="0" cy="47760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" name="Google Shape;105;g387f9f7b51e_0_23"/>
            <p:cNvCxnSpPr/>
            <p:nvPr/>
          </p:nvCxnSpPr>
          <p:spPr>
            <a:xfrm>
              <a:off x="2713938" y="2825686"/>
              <a:ext cx="558900" cy="1020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" name="Google Shape;106;g387f9f7b51e_0_23"/>
            <p:cNvSpPr/>
            <p:nvPr/>
          </p:nvSpPr>
          <p:spPr>
            <a:xfrm>
              <a:off x="3481182" y="3262561"/>
              <a:ext cx="1097100" cy="6909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20"/>
                <a:t>AI Classification</a:t>
              </a:r>
              <a:endParaRPr sz="102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0"/>
            </a:p>
          </p:txBody>
        </p:sp>
        <p:sp>
          <p:nvSpPr>
            <p:cNvPr id="107" name="Google Shape;107;g387f9f7b51e_0_23"/>
            <p:cNvSpPr txBox="1"/>
            <p:nvPr/>
          </p:nvSpPr>
          <p:spPr>
            <a:xfrm>
              <a:off x="3293331" y="2632649"/>
              <a:ext cx="14730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73"/>
                <a:t>Microcontroller</a:t>
              </a:r>
              <a:endParaRPr sz="1473"/>
            </a:p>
          </p:txBody>
        </p:sp>
        <p:sp>
          <p:nvSpPr>
            <p:cNvPr id="108" name="Google Shape;108;g387f9f7b51e_0_23"/>
            <p:cNvSpPr/>
            <p:nvPr/>
          </p:nvSpPr>
          <p:spPr>
            <a:xfrm>
              <a:off x="6777962" y="2475256"/>
              <a:ext cx="1839000" cy="1757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cxnSp>
          <p:nvCxnSpPr>
            <p:cNvPr id="109" name="Google Shape;109;g387f9f7b51e_0_23"/>
            <p:cNvCxnSpPr>
              <a:stCxn id="103" idx="3"/>
              <a:endCxn id="108" idx="1"/>
            </p:cNvCxnSpPr>
            <p:nvPr/>
          </p:nvCxnSpPr>
          <p:spPr>
            <a:xfrm>
              <a:off x="4837476" y="3353956"/>
              <a:ext cx="1940400" cy="0"/>
            </a:xfrm>
            <a:prstGeom prst="straightConnector1">
              <a:avLst/>
            </a:prstGeom>
            <a:noFill/>
            <a:ln cap="flat" cmpd="sng" w="108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" name="Google Shape;110;g387f9f7b51e_0_23"/>
            <p:cNvSpPr txBox="1"/>
            <p:nvPr/>
          </p:nvSpPr>
          <p:spPr>
            <a:xfrm>
              <a:off x="7001485" y="2571704"/>
              <a:ext cx="14730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86"/>
                <a:t>End User</a:t>
              </a:r>
              <a:endParaRPr b="1" sz="1586"/>
            </a:p>
          </p:txBody>
        </p:sp>
        <p:sp>
          <p:nvSpPr>
            <p:cNvPr id="111" name="Google Shape;111;g387f9f7b51e_0_23"/>
            <p:cNvSpPr/>
            <p:nvPr/>
          </p:nvSpPr>
          <p:spPr>
            <a:xfrm>
              <a:off x="7311425" y="2925724"/>
              <a:ext cx="1097100" cy="803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06666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sp>
          <p:nvSpPr>
            <p:cNvPr id="112" name="Google Shape;112;g387f9f7b51e_0_23"/>
            <p:cNvSpPr/>
            <p:nvPr/>
          </p:nvSpPr>
          <p:spPr>
            <a:xfrm>
              <a:off x="7167650" y="3023850"/>
              <a:ext cx="1097100" cy="803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06666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sp>
          <p:nvSpPr>
            <p:cNvPr id="113" name="Google Shape;113;g387f9f7b51e_0_23"/>
            <p:cNvSpPr/>
            <p:nvPr/>
          </p:nvSpPr>
          <p:spPr>
            <a:xfrm>
              <a:off x="7037100" y="3108475"/>
              <a:ext cx="1097100" cy="8451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06666"/>
            </a:solidFill>
            <a:ln cap="flat" cmpd="sng" w="1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25" lIns="103625" spcFirstLastPara="1" rIns="103625" wrap="square" tIns="10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6"/>
                <a:t>Mobile Application</a:t>
              </a:r>
              <a:endParaRPr sz="1286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6"/>
            </a:p>
          </p:txBody>
        </p:sp>
      </p:grpSp>
      <p:sp>
        <p:nvSpPr>
          <p:cNvPr id="114" name="Google Shape;114;g387f9f7b51e_0_23"/>
          <p:cNvSpPr txBox="1"/>
          <p:nvPr/>
        </p:nvSpPr>
        <p:spPr>
          <a:xfrm>
            <a:off x="2151525" y="4089281"/>
            <a:ext cx="1151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PCB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457200" y="639264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Radar Signal ML – JJ Chirat</a:t>
            </a:r>
            <a:endParaRPr/>
          </a:p>
        </p:txBody>
      </p:sp>
      <p:sp>
        <p:nvSpPr>
          <p:cNvPr id="120" name="Google Shape;120;p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457200" y="2975775"/>
            <a:ext cx="82296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Analyzes radar reflections and determines whether they constitute a fall injury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ML algorithm will be developed in Python, using libraries such as scikit </a:t>
            </a:r>
            <a:r>
              <a:rPr lang="en-US" sz="1800"/>
              <a:t>and tensorflow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Must be able to distinguish fall injury from sitting, laying on bed, etc., and must be trained on data which will not be modified in the future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Takes processed point-cloud data format from radar chip, ML algorithm on MCU will classify the signal, and transmit if fall injury is detected to user through app interface</a:t>
            </a:r>
            <a:endParaRPr/>
          </a:p>
        </p:txBody>
      </p:sp>
      <p:pic>
        <p:nvPicPr>
          <p:cNvPr id="122" name="Google Shape;122;p4" title="Untitled drawing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063" y="1242047"/>
            <a:ext cx="4508908" cy="164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MCU and PCB – William Jachimiak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457200" y="2937187"/>
            <a:ext cx="82296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Gets data from radar sensor and runs the ML system and sends alerts out via WIFI to the app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PCB will be </a:t>
            </a:r>
            <a:r>
              <a:rPr lang="en-US" sz="1800"/>
              <a:t>designed</a:t>
            </a:r>
            <a:r>
              <a:rPr lang="en-US" sz="1800"/>
              <a:t> using Altium and will house the ESP32-S3 MCU which will be wired to the radar development board and power system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Needs to be able to run on on battery power for extended periods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Needs to be powerful enough to run an ML algorithm</a:t>
            </a:r>
            <a:endParaRPr sz="1800"/>
          </a:p>
        </p:txBody>
      </p:sp>
      <p:sp>
        <p:nvSpPr>
          <p:cNvPr id="130" name="Google Shape;130;p5"/>
          <p:cNvSpPr/>
          <p:nvPr/>
        </p:nvSpPr>
        <p:spPr>
          <a:xfrm>
            <a:off x="3982083" y="1762314"/>
            <a:ext cx="1011300" cy="758400"/>
          </a:xfrm>
          <a:prstGeom prst="rect">
            <a:avLst/>
          </a:prstGeom>
          <a:solidFill>
            <a:srgbClr val="CFE2F3"/>
          </a:solidFill>
          <a:ln cap="flat" cmpd="sng" w="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/>
              <a:t>MCU</a:t>
            </a:r>
            <a:endParaRPr sz="1149"/>
          </a:p>
        </p:txBody>
      </p:sp>
      <p:cxnSp>
        <p:nvCxnSpPr>
          <p:cNvPr id="131" name="Google Shape;131;p5"/>
          <p:cNvCxnSpPr/>
          <p:nvPr/>
        </p:nvCxnSpPr>
        <p:spPr>
          <a:xfrm>
            <a:off x="5142193" y="2141574"/>
            <a:ext cx="733800" cy="0"/>
          </a:xfrm>
          <a:prstGeom prst="straightConnector1">
            <a:avLst/>
          </a:prstGeom>
          <a:noFill/>
          <a:ln cap="flat" cmpd="sng" w="234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5"/>
          <p:cNvSpPr/>
          <p:nvPr/>
        </p:nvSpPr>
        <p:spPr>
          <a:xfrm>
            <a:off x="2127838" y="1427663"/>
            <a:ext cx="931800" cy="1509600"/>
          </a:xfrm>
          <a:prstGeom prst="rect">
            <a:avLst/>
          </a:prstGeom>
          <a:solidFill>
            <a:srgbClr val="CFE2F3"/>
          </a:solidFill>
          <a:ln cap="flat" cmpd="sng" w="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/>
              <a:t>Radar Module</a:t>
            </a:r>
            <a:endParaRPr sz="1149"/>
          </a:p>
        </p:txBody>
      </p:sp>
      <p:cxnSp>
        <p:nvCxnSpPr>
          <p:cNvPr id="133" name="Google Shape;133;p5"/>
          <p:cNvCxnSpPr/>
          <p:nvPr/>
        </p:nvCxnSpPr>
        <p:spPr>
          <a:xfrm>
            <a:off x="3154115" y="2141574"/>
            <a:ext cx="733800" cy="0"/>
          </a:xfrm>
          <a:prstGeom prst="straightConnector1">
            <a:avLst/>
          </a:prstGeom>
          <a:noFill/>
          <a:ln cap="flat" cmpd="sng" w="234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5"/>
          <p:cNvSpPr txBox="1"/>
          <p:nvPr/>
        </p:nvSpPr>
        <p:spPr>
          <a:xfrm>
            <a:off x="5087534" y="1624029"/>
            <a:ext cx="10113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75" lIns="75075" spcFirstLastPara="1" rIns="75075" wrap="square" tIns="7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/>
              <a:t>Integrated WIFI/Cloud</a:t>
            </a:r>
            <a:endParaRPr sz="1149"/>
          </a:p>
        </p:txBody>
      </p:sp>
      <p:sp>
        <p:nvSpPr>
          <p:cNvPr id="135" name="Google Shape;135;p5"/>
          <p:cNvSpPr/>
          <p:nvPr/>
        </p:nvSpPr>
        <p:spPr>
          <a:xfrm>
            <a:off x="6004869" y="1747439"/>
            <a:ext cx="1011300" cy="758400"/>
          </a:xfrm>
          <a:prstGeom prst="rect">
            <a:avLst/>
          </a:prstGeom>
          <a:solidFill>
            <a:srgbClr val="CFE2F3"/>
          </a:solidFill>
          <a:ln cap="flat" cmpd="sng" w="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/>
              <a:t>User End App</a:t>
            </a:r>
            <a:endParaRPr sz="1149"/>
          </a:p>
        </p:txBody>
      </p:sp>
      <p:sp>
        <p:nvSpPr>
          <p:cNvPr id="136" name="Google Shape;136;p5"/>
          <p:cNvSpPr txBox="1"/>
          <p:nvPr/>
        </p:nvSpPr>
        <p:spPr>
          <a:xfrm>
            <a:off x="3201063" y="1452456"/>
            <a:ext cx="639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75" lIns="75075" spcFirstLastPara="1" rIns="75075" wrap="square" tIns="7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/>
              <a:t>Radar Data via SPI</a:t>
            </a:r>
            <a:endParaRPr sz="114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Power Supply – Aiden George</a:t>
            </a:r>
            <a:endParaRPr/>
          </a:p>
        </p:txBody>
      </p:sp>
      <p:sp>
        <p:nvSpPr>
          <p:cNvPr id="142" name="Google Shape;142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457200" y="2778043"/>
            <a:ext cx="82296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Provides power to the Radar module and MCU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Battery Powered: requires a large enough age to power system for long times without user intervention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</a:t>
            </a:r>
            <a:r>
              <a:rPr lang="en-US" sz="1800"/>
              <a:t>fficiency</a:t>
            </a:r>
            <a:r>
              <a:rPr lang="en-US" sz="1800"/>
              <a:t>: voltage </a:t>
            </a:r>
            <a:r>
              <a:rPr lang="en-US" sz="1800"/>
              <a:t>step-down</a:t>
            </a:r>
            <a:r>
              <a:rPr lang="en-US" sz="1800"/>
              <a:t> solution must be </a:t>
            </a:r>
            <a:r>
              <a:rPr lang="en-US" sz="1800"/>
              <a:t>efficient</a:t>
            </a:r>
            <a:r>
              <a:rPr lang="en-US" sz="1800"/>
              <a:t> both to converse battery life and reduce thermal effects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Design will be tested and validated in </a:t>
            </a:r>
            <a:r>
              <a:rPr lang="en-US" sz="1800"/>
              <a:t>LTSpice</a:t>
            </a:r>
            <a:r>
              <a:rPr lang="en-US" sz="1800"/>
              <a:t> before purchase of components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6" title="Untitled drawing.png"/>
          <p:cNvPicPr preferRelativeResize="0"/>
          <p:nvPr/>
        </p:nvPicPr>
        <p:blipFill rotWithShape="1">
          <a:blip r:embed="rId3">
            <a:alphaModFix/>
          </a:blip>
          <a:srcRect b="50333" l="10943" r="25761" t="6061"/>
          <a:stretch/>
        </p:blipFill>
        <p:spPr>
          <a:xfrm>
            <a:off x="2270600" y="1280681"/>
            <a:ext cx="4513550" cy="1749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51bf2e034_0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951bf2e034_0_0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51bf2e034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End-User App – Preston Bowyer</a:t>
            </a:r>
            <a:endParaRPr/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200" y="1389656"/>
            <a:ext cx="4755049" cy="320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457200" y="1389650"/>
            <a:ext cx="3432900" cy="28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Purpose: User interface for system, real time alerting, fall event logging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Tools: Expo framework and React Native 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Objectives: Simplistic UI, quick detection-to-alert time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Constraints:  Cross Platform, </a:t>
            </a:r>
            <a:r>
              <a:rPr lang="en-US" sz="1800"/>
              <a:t>low device load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Relation to Other Subsystems: MCU via detection events sent to cloud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67675" y="645920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165" name="Google Shape;165;p8"/>
          <p:cNvSpPr txBox="1"/>
          <p:nvPr>
            <p:ph idx="12" type="sldNum"/>
          </p:nvPr>
        </p:nvSpPr>
        <p:spPr>
          <a:xfrm>
            <a:off x="8401575" y="4848263"/>
            <a:ext cx="2280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6" name="Google Shape;166;p8"/>
          <p:cNvGraphicFramePr/>
          <p:nvPr/>
        </p:nvGraphicFramePr>
        <p:xfrm>
          <a:off x="511175" y="130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{74034662-EEEF-4DFA-BC98-1BE2B629879F}</a:tableStyleId>
              </a:tblPr>
              <a:tblGrid>
                <a:gridCol w="1289050"/>
                <a:gridCol w="1289050"/>
                <a:gridCol w="1289050"/>
                <a:gridCol w="1289050"/>
                <a:gridCol w="1289050"/>
                <a:gridCol w="1600550"/>
              </a:tblGrid>
              <a:tr h="27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9</a:t>
                      </a:r>
                      <a:r>
                        <a:rPr b="1" lang="en-US" sz="900" u="none" cap="none" strike="noStrike"/>
                        <a:t>/2</a:t>
                      </a:r>
                      <a:r>
                        <a:rPr b="1" lang="en-US" sz="900"/>
                        <a:t>4</a:t>
                      </a:r>
                      <a:r>
                        <a:rPr b="1" lang="en-US" sz="900" u="none" cap="none" strike="noStrike"/>
                        <a:t> - today</a:t>
                      </a:r>
                      <a:endParaRPr b="1"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10/6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10/20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11/3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11/17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Radar Signal ML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(</a:t>
                      </a:r>
                      <a:r>
                        <a:rPr b="1" lang="en-US" sz="900"/>
                        <a:t>JJ Chirat</a:t>
                      </a:r>
                      <a:r>
                        <a:rPr b="1" lang="en-US" sz="900" u="none" cap="none" strike="noStrike"/>
                        <a:t>)</a:t>
                      </a:r>
                      <a:endParaRPr b="1"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Found suitable example models on GitHub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/>
                        <a:t>Build foundations of ML algorithm</a:t>
                      </a:r>
                      <a:endParaRPr sz="9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Have training data collected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Finish implementing model &amp; training using collected data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Validate algorithm correctly classifies signals and transmits data to app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MCU and PCB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(</a:t>
                      </a:r>
                      <a:r>
                        <a:rPr b="1" lang="en-US" sz="900"/>
                        <a:t>William Jachimiak</a:t>
                      </a:r>
                      <a:r>
                        <a:rPr b="1" lang="en-US" sz="900" u="none" cap="none" strike="noStrike"/>
                        <a:t>)</a:t>
                      </a:r>
                      <a:endParaRPr b="1"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Acquired dev board </a:t>
                      </a:r>
                      <a:r>
                        <a:rPr lang="en-US" sz="900"/>
                        <a:t>and installed Altium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initial PCB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floor plan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Test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MCU to radar interface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, </a:t>
                      </a:r>
                      <a:b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Finish PCB design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MCU on PCB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Validate Radar to MCU to WiFi/Cloud to App data flow, 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Power Supply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Aiden George</a:t>
                      </a:r>
                      <a:endParaRPr b="1"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Final module choice for Radar and MCU finalized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Design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initial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power supply circuit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and finalize design in LTSpice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Validate Power Supply for both MUC and Radar Module connection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Finish testing of reliability and endurance of final system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User-End App </a:t>
                      </a:r>
                      <a:r>
                        <a:rPr b="1" lang="en-US" sz="900" u="none" cap="none" strike="noStrike"/>
                        <a:t>(</a:t>
                      </a:r>
                      <a:r>
                        <a:rPr b="1" lang="en-US" sz="900"/>
                        <a:t>Preston Bowyer</a:t>
                      </a:r>
                      <a:r>
                        <a:rPr b="1" lang="en-US" sz="900" u="none" cap="none" strike="noStrike"/>
                        <a:t>)</a:t>
                      </a:r>
                      <a:endParaRPr b="1"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Installed </a:t>
                      </a:r>
                      <a:r>
                        <a:rPr lang="en-US" sz="900"/>
                        <a:t>Expo and other necessary packages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/>
                        <a:t>Designed mock cloud backend completed, alert/notification and logging </a:t>
                      </a:r>
                      <a:r>
                        <a:rPr lang="en-US" sz="900"/>
                        <a:t>system</a:t>
                      </a:r>
                      <a:r>
                        <a:rPr lang="en-US" sz="900"/>
                        <a:t> started</a:t>
                      </a:r>
                      <a:endParaRPr sz="9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Alert/notification and logging, Design statistical analysis on log data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Implement</a:t>
                      </a:r>
                      <a:r>
                        <a:rPr lang="en-US" sz="900"/>
                        <a:t> </a:t>
                      </a:r>
                      <a:r>
                        <a:rPr lang="en-US" sz="900"/>
                        <a:t>analysis</a:t>
                      </a:r>
                      <a:r>
                        <a:rPr lang="en-US" sz="900"/>
                        <a:t> on data for risk </a:t>
                      </a:r>
                      <a:r>
                        <a:rPr lang="en-US" sz="900"/>
                        <a:t>assessment, begin fine tuning user interface</a:t>
                      </a:r>
                      <a:endParaRPr sz="105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Validate cloud data to alert system, final </a:t>
                      </a:r>
                      <a:r>
                        <a:rPr lang="en-US" sz="900"/>
                        <a:t>adjustments</a:t>
                      </a:r>
                      <a:r>
                        <a:rPr lang="en-US" sz="900"/>
                        <a:t> to logging system and UI</a:t>
                      </a:r>
                      <a:endParaRPr sz="900" u="none" cap="none" strike="noStrike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